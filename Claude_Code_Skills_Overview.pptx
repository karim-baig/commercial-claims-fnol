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40pt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kern="120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</a:lstStyle>
          <a:p>
            <a:r>
              <a:rPr lang="en-US" altLang="ja-JP" dirty="0"/>
              <a:t>Date</a:t>
            </a:r>
            <a:endParaRPr lang="en-US" altLang="ja-JP" b="0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3200" cap="none" baseline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Master text formatting</a:t>
            </a:r>
            <a:endParaRPr kumimoji="1" lang="ja-JP" altLang="en-US" dirty="0"/>
          </a:p>
          <a:p>
            <a:pPr lvl="1"/>
            <a:r>
              <a:rPr lang="en-US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0">
                <a:latin typeface="Graphik" panose="020B0503030202060203" pitchFamily="34" charset="0"/>
              </a:defRPr>
            </a:lvl1pPr>
          </a:lstStyle>
          <a:p>
            <a:pPr lvl="0"/>
            <a:r>
              <a:rPr lang="en-GB" noProof="0" dirty="0"/>
              <a:t>Insert subhead here</a:t>
            </a:r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40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Graphik" panose="020B0503030202060203" pitchFamily="34" charset="0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1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Eight skills that turn documents into deliverables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skill reads real inputs and writes a real artefact — a document, a workbook, a test suite or a running prototype. None of them stop at a summary.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rPr lang="en-US" dirty="0"/>
              <a:t>Claude </a:t>
            </a:r>
            <a:r>
              <a:rPr dirty="0"/>
              <a:t>Skills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508760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" y="1783080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2295144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Graphik"/>
              </a:rPr>
              <a:t>Architecture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15768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333333"/>
                </a:solidFill>
                <a:latin typeface="Graphik"/>
              </a:rPr>
              <a:t>A paired CLAUDE.md and Architecture.md, with metrics that verify themselves.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8124" y="1508760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78124" y="1508760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9292" y="1783080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61004" y="2295144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Graphik"/>
              </a:rPr>
              <a:t>POC plan 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1004" y="2715768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333333"/>
                </a:solidFill>
                <a:latin typeface="Graphik"/>
              </a:rPr>
              <a:t>A screen-by-screen, day-by-day build plan. Every claim traced back to an RFP clause.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3368" y="1783080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2295144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RFP UI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15768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Screens, navigation flow, personas and permissions, pulled from documents or a Figma file.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6276" y="1508760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66276" y="1508760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7444" y="1783080"/>
            <a:ext cx="402336" cy="4023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9156" y="2295144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Figma to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9156" y="2715768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Figma screens become a running, clickable front end with the real colours and type.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959352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3959352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216" y="4233672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6928" y="4745736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Compliance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166360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Predicts what SonarQube, Snyk and Semgrep would flag, before the scan runs. Never edits code.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8124" y="3959352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78124" y="3959352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9292" y="4233672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61004" y="4745736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Unit test 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1004" y="5166360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333333"/>
                </a:solidFill>
                <a:latin typeface="Graphik"/>
              </a:rPr>
              <a:t>Catalogues every test worth writing, ranked by risk, then writes the ones you pick.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959352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3959352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3368" y="4233672"/>
            <a:ext cx="402336" cy="4023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55080" y="4745736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Python optimizer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166360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Finds hot loops, N+1 queries and missed vectorisation. Ranked by measured gain.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6276" y="3959352"/>
            <a:ext cx="2747772" cy="23042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66276" y="3959352"/>
            <a:ext cx="2747772" cy="73152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67444" y="4233672"/>
            <a:ext cx="402336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49156" y="4745736"/>
            <a:ext cx="23820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Graphik"/>
              </a:rPr>
              <a:t>FNOL field 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9156" y="5166360"/>
            <a:ext cx="2382012" cy="932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Every intake field and required document for any insurance line, as a formatted workbook.</a:t>
            </a:r>
          </a:p>
        </p:txBody>
      </p:sp>
      <p:pic>
        <p:nvPicPr>
          <p:cNvPr id="45" name="Picture 44" descr="Acc_Logo_Black_Purple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80" y="6382512"/>
            <a:ext cx="1280160" cy="337498"/>
          </a:xfrm>
          <a:prstGeom prst="rect">
            <a:avLst/>
          </a:prstGeom>
        </p:spPr>
      </p:pic>
      <p:sp>
        <p:nvSpPr>
          <p:cNvPr id="46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4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rPr dirty="0"/>
              <a:t>The skills produced a running, tested claims </a:t>
            </a:r>
            <a:r>
              <a:rPr lang="en-US" dirty="0"/>
              <a:t>FNOL </a:t>
            </a:r>
            <a:r>
              <a:rPr dirty="0"/>
              <a:t>POC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rPr dirty="0"/>
              <a:t>a micro-frontend claims platform on </a:t>
            </a:r>
            <a:r>
              <a:rPr dirty="0" err="1"/>
              <a:t>FastAPI</a:t>
            </a:r>
            <a:r>
              <a:rPr dirty="0"/>
              <a:t> and React. Every figure below is counted from the codebase, not estimated.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rPr dirty="0"/>
              <a:t>Proof point</a:t>
            </a:r>
            <a:r>
              <a:rPr lang="en-US" dirty="0"/>
              <a:t> (1/2)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84048" y="1508760"/>
            <a:ext cx="2168956" cy="1133856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1600200"/>
            <a:ext cx="191292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5F0095"/>
                </a:solidFill>
                <a:latin typeface="Graphik"/>
              </a:rPr>
              <a:t>45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API endpoints
across 12 routers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9308" y="1508760"/>
            <a:ext cx="2168956" cy="1133856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27324" y="1600200"/>
            <a:ext cx="191292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5F0095"/>
                </a:solidFill>
                <a:latin typeface="Graphik"/>
              </a:rPr>
              <a:t>16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database tables
SQLite to MySQL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4569" y="1508760"/>
            <a:ext cx="2168956" cy="1133856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2585" y="1600200"/>
            <a:ext cx="191292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5F0095"/>
                </a:solidFill>
                <a:latin typeface="Graphik"/>
              </a:rPr>
              <a:t>144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automated tests
all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9830" y="1508760"/>
            <a:ext cx="2168956" cy="1133856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7846" y="1600200"/>
            <a:ext cx="191292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5F0095"/>
                </a:solidFill>
                <a:latin typeface="Graphik"/>
              </a:rPr>
              <a:t>7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front-end screens
plus 9 sub-panels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5091" y="1508760"/>
            <a:ext cx="2168956" cy="1133856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73107" y="1600200"/>
            <a:ext cx="1912924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5F0095"/>
                </a:solidFill>
                <a:latin typeface="Graphik"/>
              </a:rPr>
              <a:t>5</a:t>
            </a:r>
          </a:p>
          <a:p>
            <a:pPr>
              <a:lnSpc>
                <a:spcPct val="110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locales
RTL-aware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43784"/>
            <a:ext cx="5532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7E00FF"/>
                </a:solidFill>
                <a:latin typeface="Graphik"/>
              </a:rPr>
              <a:t>Four capabilities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843784"/>
            <a:ext cx="5715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7E00FF"/>
                </a:solidFill>
                <a:latin typeface="Graphik"/>
              </a:rPr>
              <a:t>What each skill contributed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172968"/>
            <a:ext cx="54864" cy="704088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51275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2415" y="3191256"/>
            <a:ext cx="48006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Scoped claims visibility</a:t>
            </a:r>
          </a:p>
          <a:p>
            <a:pPr>
              <a:lnSpc>
                <a:spcPct val="112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Org scope comes only from the JWT. Out-of-scope returns 403, never 404, and is audit-logged.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968496"/>
            <a:ext cx="54864" cy="704088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4146804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2415" y="3986783"/>
            <a:ext cx="48006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Document security gating</a:t>
            </a:r>
          </a:p>
          <a:p>
            <a:pPr>
              <a:lnSpc>
                <a:spcPct val="112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Three sequential gates on every fetch. The ECM reference never leaves the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764024"/>
            <a:ext cx="54864" cy="704088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4942332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2415" y="4782312"/>
            <a:ext cx="48006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Config-driven UI</a:t>
            </a:r>
          </a:p>
          <a:p>
            <a:pPr>
              <a:lnSpc>
                <a:spcPct val="112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Claims-list columns are read from a database table — change them with no rebuild.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559552"/>
            <a:ext cx="54864" cy="704088"/>
          </a:xfrm>
          <a:prstGeom prst="rect">
            <a:avLst/>
          </a:prstGeom>
          <a:solidFill>
            <a:srgbClr val="7E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928" y="5737860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42415" y="5577840"/>
            <a:ext cx="48006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Resilient FNOL intake</a:t>
            </a:r>
          </a:p>
          <a:p>
            <a:pPr>
              <a:lnSpc>
                <a:spcPct val="112000"/>
              </a:lnSpc>
            </a:pPr>
            <a:r>
              <a:rPr sz="1400">
                <a:solidFill>
                  <a:srgbClr val="333333"/>
                </a:solidFill>
                <a:latin typeface="Graphik"/>
              </a:rPr>
              <a:t>Durable outbox plus an idempotency key, so a retry cannot create a duplicate claim.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99048" y="3172968"/>
          <a:ext cx="571499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1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Graphik"/>
                        </a:rPr>
                        <a:t>Artefact in the POC</a:t>
                      </a:r>
                    </a:p>
                  </a:txBody>
                  <a:tcPr anchor="ctr"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Graphik"/>
                        </a:rPr>
                        <a:t>Skill that produces it</a:t>
                      </a:r>
                    </a:p>
                  </a:txBody>
                  <a:tcPr anchor="ctr">
                    <a:solidFill>
                      <a:srgbClr val="7E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Graphik"/>
                        </a:rPr>
                        <a:t>CLAUDE.md + Architecture.md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Graphik"/>
                        </a:rPr>
                        <a:t>Architecture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Graphik"/>
                        </a:rPr>
                        <a:t>UI page inventory workbook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Graphik"/>
                        </a:rPr>
                        <a:t>RFP UI inventory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Graphik"/>
                        </a:rPr>
                        <a:t>Screen-by-screen build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Graphik"/>
                        </a:rPr>
                        <a:t>POC plan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Graphik"/>
                        </a:rPr>
                        <a:t>144-test pytest suite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Graphik"/>
                        </a:rPr>
                        <a:t>Unit test generator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Graphik"/>
                        </a:rPr>
                        <a:t>FNOL field + document spec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33333"/>
                          </a:solidFill>
                          <a:latin typeface="Graphik"/>
                        </a:rPr>
                        <a:t>FNOL field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" name="Picture 29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412</Words>
  <Application>Microsoft Office PowerPoint</Application>
  <PresentationFormat>Widescreen</PresentationFormat>
  <Paragraphs>58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Meiryo UI</vt:lpstr>
      <vt:lpstr>游ゴシック</vt:lpstr>
      <vt:lpstr>Arial</vt:lpstr>
      <vt:lpstr>Graphik</vt:lpstr>
      <vt:lpstr>Content Layouts</vt:lpstr>
      <vt:lpstr>think-cell スライド</vt:lpstr>
      <vt:lpstr>Eight skills that turn documents into deliverables</vt:lpstr>
      <vt:lpstr>The skills produced a running, tested claims FNOL POC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Baig, Ataul K.</cp:lastModifiedBy>
  <cp:revision>12</cp:revision>
  <dcterms:created xsi:type="dcterms:W3CDTF">2022-08-19T07:32:27Z</dcterms:created>
  <dcterms:modified xsi:type="dcterms:W3CDTF">2026-09-02T12:07:56Z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