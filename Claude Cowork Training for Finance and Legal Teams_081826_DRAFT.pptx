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6"/>
  </p:notesMasterIdLst>
  <p:sldIdLst>
    <p:sldId id="256" r:id="rId3"/>
    <p:sldId id="2147483580" r:id="rId4"/>
    <p:sldId id="214748358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543DA-FDF1-4569-B110-30194C41931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D4454-F46B-4C42-8318-4FB2694E5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5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56176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674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8807B34-8BB0-740A-1966-9AA3FEE2A6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457200" tIns="274320" rIns="274320" bIns="182880" anchor="ctr" anchorCtr="0"/>
          <a:lstStyle>
            <a:lvl1pPr marL="0" indent="0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94528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56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F071DCC-AA47-3BDE-9208-66BA02F8BBAA}"/>
              </a:ext>
            </a:extLst>
          </p:cNvPr>
          <p:cNvSpPr txBox="1">
            <a:spLocks/>
          </p:cNvSpPr>
          <p:nvPr userDrawn="1"/>
        </p:nvSpPr>
        <p:spPr>
          <a:xfrm>
            <a:off x="519113" y="1690379"/>
            <a:ext cx="1513932" cy="1811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 Medium"/>
                <a:ea typeface="+mj-ea"/>
                <a:cs typeface="+mj-cs"/>
              </a:defRPr>
            </a:lvl1pPr>
            <a:lvl2pPr marL="685814" indent="-228605" algn="l" defTabSz="91441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3" indent="-228605" algn="l" defTabSz="91441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32" indent="-228605" algn="l" defTabSz="91441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41" indent="-228605" algn="l" defTabSz="91441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50" indent="-228605" algn="l" defTabSz="91441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9" indent="-228605" algn="l" defTabSz="91441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9" indent="-228605" algn="l" defTabSz="91441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8" indent="-228605" algn="l" defTabSz="91441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3">
              <a:lnSpc>
                <a:spcPct val="106000"/>
              </a:lnSpc>
              <a:defRPr/>
            </a:pPr>
            <a:r>
              <a:rPr lang="en-US" sz="1200" spc="-40">
                <a:latin typeface="+mj-lt"/>
                <a:ea typeface="+mn-ea"/>
                <a:cs typeface="+mn-cs"/>
              </a:rPr>
              <a:t>Accenture</a:t>
            </a:r>
            <a:r>
              <a:rPr lang="en-US" sz="1200" spc="-40">
                <a:latin typeface="Graphik Medium" panose="020B0603030202060203" pitchFamily="34" charset="0"/>
                <a:ea typeface="+mn-ea"/>
                <a:cs typeface="+mn-cs"/>
              </a:rPr>
              <a:t> </a:t>
            </a:r>
            <a:r>
              <a:rPr lang="en-US" sz="1200" spc="-40">
                <a:latin typeface="Graphik Regular" panose="020B0503030202060203"/>
                <a:ea typeface="+mn-ea"/>
                <a:cs typeface="+mn-cs"/>
              </a:rPr>
              <a:t>Song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F0E99B-5993-F0F3-EF9B-52E151094C70}"/>
              </a:ext>
            </a:extLst>
          </p:cNvPr>
          <p:cNvGrpSpPr/>
          <p:nvPr userDrawn="1"/>
        </p:nvGrpSpPr>
        <p:grpSpPr>
          <a:xfrm>
            <a:off x="519113" y="5239782"/>
            <a:ext cx="8274050" cy="0"/>
            <a:chOff x="519113" y="5137150"/>
            <a:chExt cx="8318500" cy="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99EE-7AD6-4676-1A8B-F2008B952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13" y="5137150"/>
              <a:ext cx="3334521" cy="0"/>
            </a:xfrm>
            <a:prstGeom prst="line">
              <a:avLst/>
            </a:prstGeom>
            <a:ln w="4762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E34C8B-1569-35D7-B48C-CA0FA0F01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8653" y="5137150"/>
              <a:ext cx="2111863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5FF36D0-42A4-352A-440C-8577DF564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535" y="5137150"/>
              <a:ext cx="1333808" cy="0"/>
            </a:xfrm>
            <a:prstGeom prst="line">
              <a:avLst/>
            </a:prstGeom>
            <a:ln w="47625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FDBDC2B-BBC7-834C-0E32-A3EBDDE61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4361" y="5137150"/>
              <a:ext cx="778055" cy="0"/>
            </a:xfrm>
            <a:prstGeom prst="line">
              <a:avLst/>
            </a:prstGeom>
            <a:ln w="4762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B1DBCB-F0AF-EA7F-49F6-72027F2F9C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7435" y="5137150"/>
              <a:ext cx="500178" cy="0"/>
            </a:xfrm>
            <a:prstGeom prst="line">
              <a:avLst/>
            </a:prstGeom>
            <a:ln w="47625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D197546-FF96-BE04-4D66-DE06BDBC2C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49" y="6158837"/>
            <a:ext cx="3589981" cy="244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1600" b="0" i="0" u="none" strike="noStrike" kern="1200" cap="none" spc="-6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Graphik Medium"/>
                <a:ea typeface="+mj-ea"/>
                <a:cs typeface="+mj-cs"/>
              </a:defRPr>
            </a:lvl1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005B7DAA-F6EF-79E3-B1AE-9F4AB96FFE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50933" y="6233619"/>
            <a:ext cx="1737465" cy="155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kern="1200" cap="none" spc="-30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Graphik Regular" panose="020B0503030202060203"/>
                <a:ea typeface="+mj-ea"/>
                <a:cs typeface="Arial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marL="0" marR="0" lvl="0" indent="0" algn="r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605935C4-1436-38E6-CB8A-1D6B65DB3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2483246"/>
            <a:ext cx="8274050" cy="165778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kumimoji="0" lang="en-US" sz="8000" b="0" i="0" u="none" strike="noStrike" kern="1200" cap="none" spc="-38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ts val="7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947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Headlin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B7BDB3E4-2B1D-7AA4-0260-6BD3CFD1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685800"/>
            <a:ext cx="5757863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kumimoji="0" lang="en-US" sz="2600" b="0" i="0" u="none" strike="noStrike" kern="1200" cap="none" spc="-120" normalizeH="0" baseline="0" dirty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BC96CE6-AAD2-50FE-B0EC-C4F2A0914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363361"/>
            <a:ext cx="1736373" cy="15267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>
              <a:buNone/>
              <a:defRPr kumimoji="0" lang="en-US" sz="1000" b="0" i="0" u="none" strike="noStrike" kern="1200" cap="none" spc="-3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Graphik Medium"/>
                <a:ea typeface="+mj-ea"/>
                <a:cs typeface="Arial"/>
              </a:defRPr>
            </a:lvl1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74FF8CE-2A2F-62FE-CE65-089F293DF3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1214329"/>
            <a:ext cx="5757863" cy="177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544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8014E880-EA81-2A35-585A-10A6CABB9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691744"/>
            <a:ext cx="8274050" cy="95703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>
              <a:defRPr kumimoji="0" lang="en-US" sz="8000" b="0" i="0" u="none" strike="noStrike" kern="1200" cap="none" spc="-38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ts val="7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97E474B-C233-734E-4530-F793A5C1BC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48" y="2629490"/>
            <a:ext cx="6453122" cy="5332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3850" b="0" i="0" u="none" strike="noStrike" kern="1200" cap="none" spc="-20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71DA0D-13E5-92A7-C3E5-2C70C1F146B1}"/>
              </a:ext>
            </a:extLst>
          </p:cNvPr>
          <p:cNvGrpSpPr/>
          <p:nvPr userDrawn="1"/>
        </p:nvGrpSpPr>
        <p:grpSpPr>
          <a:xfrm>
            <a:off x="519113" y="5239782"/>
            <a:ext cx="8274050" cy="0"/>
            <a:chOff x="519113" y="5137150"/>
            <a:chExt cx="8318500" cy="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29F3FDA-9FDB-3998-2A2C-AF215B1087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13" y="5137150"/>
              <a:ext cx="3334521" cy="0"/>
            </a:xfrm>
            <a:prstGeom prst="line">
              <a:avLst/>
            </a:prstGeom>
            <a:ln w="47625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303DC87-132C-F2DB-8792-78B0801A42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8653" y="5137150"/>
              <a:ext cx="2111863" cy="0"/>
            </a:xfrm>
            <a:prstGeom prst="line">
              <a:avLst/>
            </a:prstGeom>
            <a:ln w="4762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8FAD876-C538-DB54-6C6B-F7734980F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535" y="5137150"/>
              <a:ext cx="1333808" cy="0"/>
            </a:xfrm>
            <a:prstGeom prst="line">
              <a:avLst/>
            </a:prstGeom>
            <a:ln w="47625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7F3391-507A-738F-DEE2-1BA9647F4D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4361" y="5137150"/>
              <a:ext cx="778055" cy="0"/>
            </a:xfrm>
            <a:prstGeom prst="line">
              <a:avLst/>
            </a:prstGeom>
            <a:ln w="4762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E6A59E-C351-8BDC-3F27-B384A3F53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7435" y="5137150"/>
              <a:ext cx="500178" cy="0"/>
            </a:xfrm>
            <a:prstGeom prst="line">
              <a:avLst/>
            </a:prstGeom>
            <a:ln w="4762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1B877DA9-A95A-5736-1030-24A3DF8402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4349" y="5688159"/>
            <a:ext cx="5757863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kern="1200" spc="-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013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s -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4">
            <a:extLst>
              <a:ext uri="{FF2B5EF4-FFF2-40B4-BE49-F238E27FC236}">
                <a16:creationId xmlns:a16="http://schemas.microsoft.com/office/drawing/2014/main" id="{E091D935-FC17-16F0-09CE-A55F718D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2" y="3524250"/>
            <a:ext cx="6911730" cy="1641475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ts val="6400"/>
              </a:lnSpc>
              <a:defRPr lang="en-US" sz="6800" spc="-380" dirty="0"/>
            </a:lvl1pPr>
          </a:lstStyle>
          <a:p>
            <a:pPr marL="0" lvl="0" defTabSz="914418">
              <a:lnSpc>
                <a:spcPts val="64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50E1D9D-C3AE-B26F-A147-1CC9031472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0062" y="2629490"/>
            <a:ext cx="6453122" cy="5332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3850" b="0" i="0" u="none" strike="noStrike" kern="1200" cap="none" spc="-20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18039FEF-6ECE-9AF8-35F4-17E6B2B5C9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9113" y="5727123"/>
            <a:ext cx="5757863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kern="1200" spc="-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69CCFFE-0BE3-CE76-76DC-B47017C1F2D1}"/>
              </a:ext>
            </a:extLst>
          </p:cNvPr>
          <p:cNvCxnSpPr>
            <a:cxnSpLocks/>
          </p:cNvCxnSpPr>
          <p:nvPr userDrawn="1"/>
        </p:nvCxnSpPr>
        <p:spPr>
          <a:xfrm>
            <a:off x="500062" y="5422662"/>
            <a:ext cx="2533651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97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1/2 Right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B4A3493-6B17-36DF-8454-96A692DDDDD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6488" y="0"/>
            <a:ext cx="600551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457200" tIns="274320" rIns="274320" bIns="18288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BA44AFAD-40B5-1D5C-88F2-6DB2E6806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685800"/>
            <a:ext cx="5395913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kumimoji="0" lang="en-US" sz="2600" b="0" i="0" u="none" strike="noStrike" kern="1200" cap="none" spc="-120" normalizeH="0" baseline="0" dirty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7C3D404-FAD9-BC3C-5D63-0F0461D46F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69800"/>
            <a:ext cx="2078038" cy="15267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kumimoji="0" lang="en-US" sz="1000" b="0" i="0" u="none" strike="noStrike" kern="1200" cap="none" spc="-3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Graphik Medium"/>
                <a:ea typeface="+mj-ea"/>
                <a:cs typeface="Arial"/>
              </a:defRPr>
            </a:lvl1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9CA1658-E17E-47E8-12D6-011D1325A9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4350" y="1214329"/>
            <a:ext cx="5395913" cy="177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2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Margin Height Right Al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B4A3493-6B17-36DF-8454-96A692DDDDD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41910" y="412751"/>
            <a:ext cx="6030978" cy="5945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457200" tIns="274320" rIns="274320" bIns="18288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Key visuals/</a:t>
            </a:r>
            <a:r>
              <a:rPr lang="en-US" err="1"/>
              <a:t>moodboard</a:t>
            </a:r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47B1892-ADF5-B084-B39E-196DBFB2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685800"/>
            <a:ext cx="4489092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kumimoji="0" lang="en-US" sz="2600" b="0" i="0" u="none" strike="noStrike" kern="1200" cap="none" spc="-120" normalizeH="0" baseline="0" dirty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2F586CC-BF91-CA09-BD97-46BF16CD69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69800"/>
            <a:ext cx="2078038" cy="15267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kumimoji="0" lang="en-US" sz="1000" b="0" i="0" u="none" strike="noStrike" kern="1200" cap="none" spc="-3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Graphik Medium"/>
                <a:ea typeface="+mj-ea"/>
                <a:cs typeface="Arial"/>
              </a:defRPr>
            </a:lvl1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36C04AC-D643-B809-8B05-C3C4D85A72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4350" y="1214329"/>
            <a:ext cx="4489092" cy="177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437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1/2 Left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B4A3493-6B17-36DF-8454-96A692DDDDD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91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457200" tIns="274320" rIns="274320" bIns="18288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E9F434D5-9BB4-B480-8399-67D00A51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41" y="685800"/>
            <a:ext cx="5391148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kumimoji="0" lang="en-US" sz="2600" b="0" i="0" u="none" strike="noStrike" kern="1200" cap="none" spc="-120" normalizeH="0" baseline="0" dirty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BAE12E6-24F8-C401-3904-7CEA87DCD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1740" y="369800"/>
            <a:ext cx="2078038" cy="15267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kumimoji="0" lang="en-US" sz="1000" b="0" i="0" u="none" strike="noStrike" kern="1200" cap="none" spc="-3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Graphik Medium"/>
                <a:ea typeface="+mj-ea"/>
                <a:cs typeface="Arial"/>
              </a:defRPr>
            </a:lvl1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12E56D-CE73-32B0-16B1-DE684A5635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40" y="1214329"/>
            <a:ext cx="5391148" cy="177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079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Margin Height Left Al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B4A3493-6B17-36DF-8454-96A692DDDDD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9113" y="412751"/>
            <a:ext cx="5489575" cy="5945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457200" tIns="274320" rIns="274320" bIns="18288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A7B228B9-451B-3560-9A59-DB820CC0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41" y="685800"/>
            <a:ext cx="5391148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kumimoji="0" lang="en-US" sz="2600" b="0" i="0" u="none" strike="noStrike" kern="1200" cap="none" spc="-120" normalizeH="0" baseline="0" dirty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F1B5C75-5AD8-0EA5-9016-E10E544FFE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1740" y="369800"/>
            <a:ext cx="2078038" cy="15267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kumimoji="0" lang="en-US" sz="1000" b="0" i="0" u="none" strike="noStrike" kern="1200" cap="none" spc="-3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Graphik Medium"/>
                <a:ea typeface="+mj-ea"/>
                <a:cs typeface="Arial"/>
              </a:defRPr>
            </a:lvl1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2575E72-F201-7911-D590-6CE4C5534E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40" y="1214329"/>
            <a:ext cx="5391148" cy="177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2pPr>
            <a:lvl3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3pPr>
            <a:lvl4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4pPr>
            <a:lvl5pPr marL="0" marR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200" b="0" i="0" u="none" strike="noStrike" kern="1200" cap="none" spc="-4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550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13: Title and 5 icons">
  <p:cSld name="F13: Title and 5 icons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bfd5f1e2b1_0_3137"/>
          <p:cNvSpPr txBox="1">
            <a:spLocks noGrp="1"/>
          </p:cNvSpPr>
          <p:nvPr>
            <p:ph type="body" idx="1"/>
          </p:nvPr>
        </p:nvSpPr>
        <p:spPr>
          <a:xfrm>
            <a:off x="6205383" y="609600"/>
            <a:ext cx="5386500" cy="51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1300"/>
              </a:spcBef>
              <a:spcAft>
                <a:spcPts val="0"/>
              </a:spcAft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130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1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1300"/>
              </a:spcBef>
              <a:spcAft>
                <a:spcPts val="0"/>
              </a:spcAft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130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1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1300"/>
              </a:spcBef>
              <a:spcAft>
                <a:spcPts val="0"/>
              </a:spcAft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1300"/>
              </a:spcBef>
              <a:spcAft>
                <a:spcPts val="1300"/>
              </a:spcAft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4" name="Google Shape;944;g3bfd5f1e2b1_0_3137"/>
          <p:cNvSpPr txBox="1">
            <a:spLocks noGrp="1"/>
          </p:cNvSpPr>
          <p:nvPr>
            <p:ph type="title"/>
          </p:nvPr>
        </p:nvSpPr>
        <p:spPr>
          <a:xfrm>
            <a:off x="607700" y="609608"/>
            <a:ext cx="3512400" cy="51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g3bfd5f1e2b1_0_3137"/>
          <p:cNvSpPr>
            <a:spLocks noGrp="1"/>
          </p:cNvSpPr>
          <p:nvPr>
            <p:ph type="pic" idx="2"/>
          </p:nvPr>
        </p:nvSpPr>
        <p:spPr>
          <a:xfrm>
            <a:off x="5272656" y="609524"/>
            <a:ext cx="632700" cy="632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6" name="Google Shape;946;g3bfd5f1e2b1_0_3137"/>
          <p:cNvSpPr>
            <a:spLocks noGrp="1"/>
          </p:cNvSpPr>
          <p:nvPr>
            <p:ph type="pic" idx="3"/>
          </p:nvPr>
        </p:nvSpPr>
        <p:spPr>
          <a:xfrm>
            <a:off x="5272664" y="1666064"/>
            <a:ext cx="632700" cy="632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7" name="Google Shape;947;g3bfd5f1e2b1_0_3137"/>
          <p:cNvSpPr>
            <a:spLocks noGrp="1"/>
          </p:cNvSpPr>
          <p:nvPr>
            <p:ph type="pic" idx="4"/>
          </p:nvPr>
        </p:nvSpPr>
        <p:spPr>
          <a:xfrm>
            <a:off x="5272664" y="2722604"/>
            <a:ext cx="632700" cy="632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8" name="Google Shape;948;g3bfd5f1e2b1_0_3137"/>
          <p:cNvSpPr>
            <a:spLocks noGrp="1"/>
          </p:cNvSpPr>
          <p:nvPr>
            <p:ph type="pic" idx="5"/>
          </p:nvPr>
        </p:nvSpPr>
        <p:spPr>
          <a:xfrm>
            <a:off x="5272647" y="3779143"/>
            <a:ext cx="632700" cy="632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9" name="Google Shape;949;g3bfd5f1e2b1_0_3137"/>
          <p:cNvSpPr>
            <a:spLocks noGrp="1"/>
          </p:cNvSpPr>
          <p:nvPr>
            <p:ph type="pic" idx="6"/>
          </p:nvPr>
        </p:nvSpPr>
        <p:spPr>
          <a:xfrm>
            <a:off x="5272647" y="4835683"/>
            <a:ext cx="632700" cy="632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44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1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7F4270-619D-7891-8BE6-A15DD273B0BE}"/>
              </a:ext>
            </a:extLst>
          </p:cNvPr>
          <p:cNvSpPr txBox="1">
            <a:spLocks/>
          </p:cNvSpPr>
          <p:nvPr userDrawn="1"/>
        </p:nvSpPr>
        <p:spPr>
          <a:xfrm>
            <a:off x="9029700" y="6519676"/>
            <a:ext cx="2338865" cy="1313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 Medium"/>
                <a:ea typeface="+mj-ea"/>
                <a:cs typeface="+mj-cs"/>
              </a:defRPr>
            </a:lvl1pPr>
            <a:lvl2pPr marL="685814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/>
            <a:r>
              <a:rPr lang="en-US" noProof="0">
                <a:solidFill>
                  <a:schemeClr val="bg1">
                    <a:lumMod val="85000"/>
                  </a:schemeClr>
                </a:solidFill>
              </a:rPr>
              <a:t>Copyright © Accenture 2026.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54AB8E-476F-40E7-541C-99B064FA5AD0}"/>
              </a:ext>
            </a:extLst>
          </p:cNvPr>
          <p:cNvSpPr txBox="1">
            <a:spLocks/>
          </p:cNvSpPr>
          <p:nvPr userDrawn="1"/>
        </p:nvSpPr>
        <p:spPr>
          <a:xfrm>
            <a:off x="11402220" y="6519676"/>
            <a:ext cx="261144" cy="1313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defTabSz="91415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-30" normalizeH="0" baseline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Graphik Medium"/>
                <a:ea typeface="+mj-ea"/>
                <a:cs typeface="+mj-cs"/>
              </a:defRPr>
            </a:lvl1pPr>
            <a:lvl2pPr marL="685814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spc="-50" baseline="0"/>
            </a:lvl2pPr>
            <a:lvl3pPr marL="1143023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spc="-30" baseline="0"/>
            </a:lvl3pPr>
            <a:lvl4pPr marL="1600232" indent="-228605" defTabSz="914418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 spc="-10" baseline="0"/>
            </a:lvl4pPr>
            <a:lvl5pPr marL="2057441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pc="-50" baseline="0"/>
            </a:lvl5pPr>
            <a:lvl6pPr marL="2514650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5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69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78" indent="-228605" defTabSz="91441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4935922D-038B-4771-8D89-1246AEADF358}" type="slidenum">
              <a:rPr lang="en-US" noProof="0" smtClean="0"/>
              <a:pPr lvl="0" algn="r"/>
              <a:t>‹#›</a:t>
            </a:fld>
            <a:endParaRPr lang="en-US" noProof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058F40-CE56-5684-6A96-2341DACFB0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8534" y="6572692"/>
            <a:ext cx="566928" cy="6348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F36B14-2688-CE2E-7601-D0CCF7C0CB0E}"/>
              </a:ext>
            </a:extLst>
          </p:cNvPr>
          <p:cNvCxnSpPr/>
          <p:nvPr userDrawn="1"/>
        </p:nvCxnSpPr>
        <p:spPr>
          <a:xfrm>
            <a:off x="1114425" y="6542088"/>
            <a:ext cx="0" cy="108906"/>
          </a:xfrm>
          <a:prstGeom prst="line">
            <a:avLst/>
          </a:prstGeom>
          <a:ln w="63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50EC3FCD-8AA7-C064-098F-F170580F5D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8636" y="6505548"/>
            <a:ext cx="484632" cy="12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537" rtl="0" eaLnBrk="1" latinLnBrk="0" hangingPunct="1">
        <a:lnSpc>
          <a:spcPct val="90000"/>
        </a:lnSpc>
        <a:spcBef>
          <a:spcPct val="0"/>
        </a:spcBef>
        <a:buNone/>
        <a:defRPr sz="3200" b="0" kern="1200" spc="-1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35" indent="-228635" algn="l" defTabSz="91453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 spc="-1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903" indent="-228635" algn="l" defTabSz="91453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600" kern="1200" spc="-5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171" indent="-228635" algn="l" defTabSz="91453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200" kern="1200" spc="-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440" indent="-228635" algn="l" defTabSz="91453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8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708" indent="-228635" algn="l" defTabSz="9145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977" indent="-228635" algn="l" defTabSz="9145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246" indent="-228635" algn="l" defTabSz="9145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515" indent="-228635" algn="l" defTabSz="9145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783" indent="-228635" algn="l" defTabSz="9145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69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37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06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75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343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611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880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149" algn="l" defTabSz="9145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4">
          <p15:clr>
            <a:srgbClr val="000000"/>
          </p15:clr>
        </p15:guide>
        <p15:guide id="2" pos="7353">
          <p15:clr>
            <a:srgbClr val="000000"/>
          </p15:clr>
        </p15:guide>
        <p15:guide id="3" orient="horz" pos="258">
          <p15:clr>
            <a:srgbClr val="5ACBF0"/>
          </p15:clr>
        </p15:guide>
        <p15:guide id="4" orient="horz" pos="4005">
          <p15:clr>
            <a:srgbClr val="000000"/>
          </p15:clr>
        </p15:guide>
        <p15:guide id="7" pos="2111">
          <p15:clr>
            <a:srgbClr val="A4A3A4"/>
          </p15:clr>
        </p15:guide>
        <p15:guide id="9" pos="1995">
          <p15:clr>
            <a:srgbClr val="A4A3A4"/>
          </p15:clr>
        </p15:guide>
        <p15:guide id="13" pos="3897">
          <p15:clr>
            <a:srgbClr val="A4A3A4"/>
          </p15:clr>
        </p15:guide>
        <p15:guide id="15" pos="3785">
          <p15:clr>
            <a:srgbClr val="A4A3A4"/>
          </p15:clr>
        </p15:guide>
        <p15:guide id="19" pos="5683">
          <p15:clr>
            <a:srgbClr val="A4A3A4"/>
          </p15:clr>
        </p15:guide>
        <p15:guide id="21" pos="5567">
          <p15:clr>
            <a:srgbClr val="A4A3A4"/>
          </p15:clr>
        </p15:guide>
        <p15:guide id="29" orient="horz" pos="1152">
          <p15:clr>
            <a:srgbClr val="A4A3A4"/>
          </p15:clr>
        </p15:guide>
        <p15:guide id="30" orient="horz" pos="1268">
          <p15:clr>
            <a:srgbClr val="A4A3A4"/>
          </p15:clr>
        </p15:guide>
        <p15:guide id="33" orient="horz" pos="2103">
          <p15:clr>
            <a:srgbClr val="A4A3A4"/>
          </p15:clr>
        </p15:guide>
        <p15:guide id="34" orient="horz" pos="2220">
          <p15:clr>
            <a:srgbClr val="A4A3A4"/>
          </p15:clr>
        </p15:guide>
        <p15:guide id="37" orient="horz" pos="3054">
          <p15:clr>
            <a:srgbClr val="A4A3A4"/>
          </p15:clr>
        </p15:guide>
        <p15:guide id="38" orient="horz" pos="3170">
          <p15:clr>
            <a:srgbClr val="A4A3A4"/>
          </p15:clr>
        </p15:guide>
        <p15:guide id="39" orient="horz" pos="317">
          <p15:clr>
            <a:srgbClr val="5ACBF0"/>
          </p15:clr>
        </p15:guide>
        <p15:guide id="41" pos="7584">
          <p15:clr>
            <a:srgbClr val="F26B43"/>
          </p15:clr>
        </p15:guide>
        <p15:guide id="42" orient="horz" pos="4188">
          <p15:clr>
            <a:srgbClr val="F26B43"/>
          </p15:clr>
        </p15:guide>
        <p15:guide id="43" orient="horz" pos="132">
          <p15:clr>
            <a:srgbClr val="F26B43"/>
          </p15:clr>
        </p15:guide>
        <p15:guide id="44" pos="96">
          <p15:clr>
            <a:srgbClr val="F26B43"/>
          </p15:clr>
        </p15:guide>
        <p15:guide id="46" orient="horz" pos="4128">
          <p15:clr>
            <a:srgbClr val="5ACBF0"/>
          </p15:clr>
        </p15:guide>
        <p15:guide id="47" orient="horz" pos="432">
          <p15:clr>
            <a:srgbClr val="000000"/>
          </p15:clr>
        </p15:guide>
        <p15:guide id="48" pos="1911">
          <p15:clr>
            <a:srgbClr val="FDE53C"/>
          </p15:clr>
        </p15:guide>
        <p15:guide id="49" pos="2138">
          <p15:clr>
            <a:srgbClr val="FDE53C"/>
          </p15:clr>
        </p15:guide>
        <p15:guide id="50" pos="3723">
          <p15:clr>
            <a:srgbClr val="FDE53C"/>
          </p15:clr>
        </p15:guide>
        <p15:guide id="51" pos="3951">
          <p15:clr>
            <a:srgbClr val="FDE53C"/>
          </p15:clr>
        </p15:guide>
        <p15:guide id="52" pos="5536">
          <p15:clr>
            <a:srgbClr val="FDE53C"/>
          </p15:clr>
        </p15:guide>
        <p15:guide id="53" pos="5760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69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B9B9B9"/>
                </a:solidFill>
                <a:effectLst/>
                <a:uLnTx/>
                <a:uFillTx/>
                <a:latin typeface="Graphik" pitchFamily="34" charset="0"/>
                <a:ea typeface="Graphik" pitchFamily="34" charset="-122"/>
                <a:cs typeface="Graphik" pitchFamily="34" charset="-120"/>
              </a:rPr>
              <a:t>Accenture + Anthropic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itchFamily="34" charset="0"/>
                <a:ea typeface="Graphik" pitchFamily="34" charset="-122"/>
                <a:cs typeface="Graphik" pitchFamily="34" charset="-120"/>
              </a:rPr>
              <a:t>Enabling Claude Cowork for Finance &amp; Legal Teams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CFCFCF"/>
                </a:solidFill>
                <a:effectLst/>
                <a:uLnTx/>
                <a:uFillTx/>
                <a:latin typeface="Graphik" pitchFamily="34" charset="0"/>
                <a:ea typeface="Graphik" pitchFamily="34" charset="-122"/>
                <a:cs typeface="Graphik" pitchFamily="34" charset="-120"/>
              </a:rPr>
              <a:t>A structured training &amp; enablement program — from prioritized use cases to 101 / 201 / 301 fluency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/tmp/assets/an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53887"/>
            <a:ext cx="1828800" cy="205740"/>
          </a:xfrm>
          <a:prstGeom prst="rect">
            <a:avLst/>
          </a:prstGeom>
        </p:spPr>
      </p:pic>
      <p:pic>
        <p:nvPicPr>
          <p:cNvPr id="6" name="Image 1" descr="/tmp/assets/ac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797296"/>
            <a:ext cx="1371600" cy="3623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F921-6F1B-4E63-8B89-7B1BA99DA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A11623B1-EC43-BD47-1326-5F30ECF29F1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1623B1-EC43-BD47-1326-5F30ECF29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10;p1">
            <a:extLst>
              <a:ext uri="{FF2B5EF4-FFF2-40B4-BE49-F238E27FC236}">
                <a16:creationId xmlns:a16="http://schemas.microsoft.com/office/drawing/2014/main" id="{8FEFEB31-C223-7E7D-4056-B3E58700463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265065" y="6443654"/>
            <a:ext cx="471715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800" b="0" i="0" u="none" strike="noStrike" kern="1200" cap="none">
                <a:solidFill>
                  <a:schemeClr val="bg1">
                    <a:lumMod val="65000"/>
                  </a:schemeClr>
                </a:solidFill>
                <a:latin typeface="Graphik" panose="020B0503030202060203" pitchFamily="34" charset="0"/>
                <a:ea typeface="Graphik" panose="020B0503030202060203" pitchFamily="34" charset="0"/>
                <a:cs typeface="Arial"/>
                <a:sym typeface="Arial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Graphik" panose="020B0503030202060203" pitchFamily="34" charset="0"/>
              <a:cs typeface="Arial"/>
              <a:sym typeface="Arial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64C35770-D3BE-0660-4B07-F25786FB0B6E}"/>
              </a:ext>
            </a:extLst>
          </p:cNvPr>
          <p:cNvSpPr txBox="1">
            <a:spLocks/>
          </p:cNvSpPr>
          <p:nvPr/>
        </p:nvSpPr>
        <p:spPr>
          <a:xfrm>
            <a:off x="514349" y="604818"/>
            <a:ext cx="11249480" cy="3600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418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0" i="0" u="none" strike="noStrike" cap="none" spc="-120" normalizeH="0" baseline="0">
                <a:ln>
                  <a:noFill/>
                </a:ln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-12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rPr>
              <a:t>Our Value &amp; Offerings: Accenture is the Right Fit for Cowork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1B607A-565C-30AB-078C-6F68F6A1C23B}"/>
              </a:ext>
            </a:extLst>
          </p:cNvPr>
          <p:cNvSpPr txBox="1">
            <a:spLocks/>
          </p:cNvSpPr>
          <p:nvPr/>
        </p:nvSpPr>
        <p:spPr>
          <a:xfrm>
            <a:off x="514350" y="381343"/>
            <a:ext cx="1666803" cy="15549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" panose="020B0503030202060203" pitchFamily="34" charset="77"/>
                <a:ea typeface="+mj-ea"/>
                <a:cs typeface="Arial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3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raphik Medium"/>
                <a:ea typeface="+mj-ea"/>
                <a:cs typeface="Arial"/>
                <a:sym typeface="Arial"/>
              </a:rPr>
              <a:t>Accenture + Anthropic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208C04-2AF3-5E30-2B4F-998C9956E369}"/>
              </a:ext>
            </a:extLst>
          </p:cNvPr>
          <p:cNvSpPr txBox="1">
            <a:spLocks/>
          </p:cNvSpPr>
          <p:nvPr/>
        </p:nvSpPr>
        <p:spPr>
          <a:xfrm>
            <a:off x="514349" y="1003872"/>
            <a:ext cx="11249480" cy="2064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Our team has unmatched experience, the most advanced configs and playbooks, and an approach that begins and ends with ROI.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B90D6F0-7B05-2766-6033-4644CC02EB1B}"/>
              </a:ext>
            </a:extLst>
          </p:cNvPr>
          <p:cNvSpPr txBox="1">
            <a:spLocks/>
          </p:cNvSpPr>
          <p:nvPr/>
        </p:nvSpPr>
        <p:spPr>
          <a:xfrm>
            <a:off x="514348" y="1483746"/>
            <a:ext cx="3546207" cy="418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Anthropic’s chosen partner for bringing Cowork to market.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Semibold" panose="020B07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D36E7740-8130-B28F-B979-49830C0FB21B}"/>
              </a:ext>
            </a:extLst>
          </p:cNvPr>
          <p:cNvSpPr txBox="1">
            <a:spLocks/>
          </p:cNvSpPr>
          <p:nvPr/>
        </p:nvSpPr>
        <p:spPr>
          <a:xfrm>
            <a:off x="4755171" y="1483746"/>
            <a:ext cx="6912954" cy="418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offerings can help you from vision to value realization, or anywhere in between.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 Semibold" panose="020B07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DA32D5-02F3-E293-E6A5-AF77C8213572}"/>
              </a:ext>
            </a:extLst>
          </p:cNvPr>
          <p:cNvSpPr/>
          <p:nvPr/>
        </p:nvSpPr>
        <p:spPr>
          <a:xfrm>
            <a:off x="4738219" y="3412104"/>
            <a:ext cx="3309329" cy="2643256"/>
          </a:xfrm>
          <a:prstGeom prst="roundRect">
            <a:avLst>
              <a:gd name="adj" fmla="val 15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2209B5F-2378-8FDC-99A1-80D3FDA9AC5C}"/>
              </a:ext>
            </a:extLst>
          </p:cNvPr>
          <p:cNvSpPr/>
          <p:nvPr/>
        </p:nvSpPr>
        <p:spPr>
          <a:xfrm>
            <a:off x="8207473" y="3412104"/>
            <a:ext cx="3309329" cy="2643256"/>
          </a:xfrm>
          <a:prstGeom prst="roundRect">
            <a:avLst>
              <a:gd name="adj" fmla="val 15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BE71A3E2-FDEC-4E60-133E-0E5C6C8F80DB}"/>
              </a:ext>
            </a:extLst>
          </p:cNvPr>
          <p:cNvSpPr txBox="1">
            <a:spLocks/>
          </p:cNvSpPr>
          <p:nvPr/>
        </p:nvSpPr>
        <p:spPr>
          <a:xfrm>
            <a:off x="5514974" y="3659104"/>
            <a:ext cx="2403475" cy="117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Calibri" panose="020F0502020204030204" pitchFamily="34" charset="0"/>
                <a:cs typeface="Calibri" panose="020F0502020204030204" pitchFamily="34" charset="0"/>
              </a:rPr>
              <a:t>Part 1: Assess &amp; Align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53B6FDA-CB42-3AEA-F359-FB928479FD4A}"/>
              </a:ext>
            </a:extLst>
          </p:cNvPr>
          <p:cNvSpPr txBox="1">
            <a:spLocks/>
          </p:cNvSpPr>
          <p:nvPr/>
        </p:nvSpPr>
        <p:spPr>
          <a:xfrm>
            <a:off x="9099264" y="3659104"/>
            <a:ext cx="2403475" cy="117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Calibri" panose="020F0502020204030204" pitchFamily="34" charset="0"/>
                <a:cs typeface="Calibri" panose="020F0502020204030204" pitchFamily="34" charset="0"/>
              </a:rPr>
              <a:t>Part 2: Execute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1E97A3D-D531-ED31-A6DE-6B46D327FD46}"/>
              </a:ext>
            </a:extLst>
          </p:cNvPr>
          <p:cNvSpPr txBox="1">
            <a:spLocks/>
          </p:cNvSpPr>
          <p:nvPr/>
        </p:nvSpPr>
        <p:spPr>
          <a:xfrm>
            <a:off x="5514974" y="3825806"/>
            <a:ext cx="2403475" cy="184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Semibold"/>
                <a:ea typeface="Calibri" panose="020F0502020204030204" pitchFamily="34" charset="0"/>
                <a:cs typeface="Calibri" panose="020F0502020204030204" pitchFamily="34" charset="0"/>
              </a:rPr>
              <a:t>Shape the Future with Cowork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980AF16-0FA9-AFC7-722B-132BB1DA23DE}"/>
              </a:ext>
            </a:extLst>
          </p:cNvPr>
          <p:cNvSpPr txBox="1">
            <a:spLocks/>
          </p:cNvSpPr>
          <p:nvPr/>
        </p:nvSpPr>
        <p:spPr>
          <a:xfrm>
            <a:off x="9099264" y="3825806"/>
            <a:ext cx="2403475" cy="366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Semibold"/>
                <a:ea typeface="Calibri" panose="020F0502020204030204" pitchFamily="34" charset="0"/>
                <a:cs typeface="Calibri" panose="020F0502020204030204" pitchFamily="34" charset="0"/>
              </a:rPr>
              <a:t>Scale the Future with Cowork</a:t>
            </a:r>
          </a:p>
        </p:txBody>
      </p:sp>
      <p:sp>
        <p:nvSpPr>
          <p:cNvPr id="31" name="Freeform 29">
            <a:extLst>
              <a:ext uri="{FF2B5EF4-FFF2-40B4-BE49-F238E27FC236}">
                <a16:creationId xmlns:a16="http://schemas.microsoft.com/office/drawing/2014/main" id="{4AD64687-87F3-6E25-CB5E-B066F91AB548}"/>
              </a:ext>
            </a:extLst>
          </p:cNvPr>
          <p:cNvSpPr>
            <a:spLocks noEditPoints="1"/>
          </p:cNvSpPr>
          <p:nvPr/>
        </p:nvSpPr>
        <p:spPr bwMode="auto">
          <a:xfrm>
            <a:off x="4940819" y="3652909"/>
            <a:ext cx="372378" cy="500669"/>
          </a:xfrm>
          <a:custGeom>
            <a:avLst/>
            <a:gdLst>
              <a:gd name="T0" fmla="*/ 211 w 214"/>
              <a:gd name="T1" fmla="*/ 90 h 295"/>
              <a:gd name="T2" fmla="*/ 185 w 214"/>
              <a:gd name="T3" fmla="*/ 73 h 295"/>
              <a:gd name="T4" fmla="*/ 170 w 214"/>
              <a:gd name="T5" fmla="*/ 46 h 295"/>
              <a:gd name="T6" fmla="*/ 129 w 214"/>
              <a:gd name="T7" fmla="*/ 6 h 295"/>
              <a:gd name="T8" fmla="*/ 123 w 214"/>
              <a:gd name="T9" fmla="*/ 0 h 295"/>
              <a:gd name="T10" fmla="*/ 99 w 214"/>
              <a:gd name="T11" fmla="*/ 14 h 295"/>
              <a:gd name="T12" fmla="*/ 81 w 214"/>
              <a:gd name="T13" fmla="*/ 27 h 295"/>
              <a:gd name="T14" fmla="*/ 38 w 214"/>
              <a:gd name="T15" fmla="*/ 67 h 295"/>
              <a:gd name="T16" fmla="*/ 18 w 214"/>
              <a:gd name="T17" fmla="*/ 116 h 295"/>
              <a:gd name="T18" fmla="*/ 16 w 214"/>
              <a:gd name="T19" fmla="*/ 154 h 295"/>
              <a:gd name="T20" fmla="*/ 23 w 214"/>
              <a:gd name="T21" fmla="*/ 206 h 295"/>
              <a:gd name="T22" fmla="*/ 17 w 214"/>
              <a:gd name="T23" fmla="*/ 212 h 295"/>
              <a:gd name="T24" fmla="*/ 0 w 214"/>
              <a:gd name="T25" fmla="*/ 251 h 295"/>
              <a:gd name="T26" fmla="*/ 6 w 214"/>
              <a:gd name="T27" fmla="*/ 295 h 295"/>
              <a:gd name="T28" fmla="*/ 197 w 214"/>
              <a:gd name="T29" fmla="*/ 289 h 295"/>
              <a:gd name="T30" fmla="*/ 182 w 214"/>
              <a:gd name="T31" fmla="*/ 213 h 295"/>
              <a:gd name="T32" fmla="*/ 175 w 214"/>
              <a:gd name="T33" fmla="*/ 206 h 295"/>
              <a:gd name="T34" fmla="*/ 174 w 214"/>
              <a:gd name="T35" fmla="*/ 205 h 295"/>
              <a:gd name="T36" fmla="*/ 167 w 214"/>
              <a:gd name="T37" fmla="*/ 183 h 295"/>
              <a:gd name="T38" fmla="*/ 132 w 214"/>
              <a:gd name="T39" fmla="*/ 116 h 295"/>
              <a:gd name="T40" fmla="*/ 170 w 214"/>
              <a:gd name="T41" fmla="*/ 126 h 295"/>
              <a:gd name="T42" fmla="*/ 193 w 214"/>
              <a:gd name="T43" fmla="*/ 131 h 295"/>
              <a:gd name="T44" fmla="*/ 213 w 214"/>
              <a:gd name="T45" fmla="*/ 97 h 295"/>
              <a:gd name="T46" fmla="*/ 185 w 214"/>
              <a:gd name="T47" fmla="*/ 243 h 295"/>
              <a:gd name="T48" fmla="*/ 186 w 214"/>
              <a:gd name="T49" fmla="*/ 284 h 295"/>
              <a:gd name="T50" fmla="*/ 12 w 214"/>
              <a:gd name="T51" fmla="*/ 251 h 295"/>
              <a:gd name="T52" fmla="*/ 13 w 214"/>
              <a:gd name="T53" fmla="*/ 242 h 295"/>
              <a:gd name="T54" fmla="*/ 104 w 214"/>
              <a:gd name="T55" fmla="*/ 242 h 295"/>
              <a:gd name="T56" fmla="*/ 104 w 214"/>
              <a:gd name="T57" fmla="*/ 242 h 295"/>
              <a:gd name="T58" fmla="*/ 171 w 214"/>
              <a:gd name="T59" fmla="*/ 219 h 295"/>
              <a:gd name="T60" fmla="*/ 173 w 214"/>
              <a:gd name="T61" fmla="*/ 220 h 295"/>
              <a:gd name="T62" fmla="*/ 180 w 214"/>
              <a:gd name="T63" fmla="*/ 231 h 295"/>
              <a:gd name="T64" fmla="*/ 104 w 214"/>
              <a:gd name="T65" fmla="*/ 231 h 295"/>
              <a:gd name="T66" fmla="*/ 104 w 214"/>
              <a:gd name="T67" fmla="*/ 231 h 295"/>
              <a:gd name="T68" fmla="*/ 18 w 214"/>
              <a:gd name="T69" fmla="*/ 231 h 295"/>
              <a:gd name="T70" fmla="*/ 25 w 214"/>
              <a:gd name="T71" fmla="*/ 220 h 295"/>
              <a:gd name="T72" fmla="*/ 26 w 214"/>
              <a:gd name="T73" fmla="*/ 219 h 295"/>
              <a:gd name="T74" fmla="*/ 166 w 214"/>
              <a:gd name="T75" fmla="*/ 214 h 295"/>
              <a:gd name="T76" fmla="*/ 191 w 214"/>
              <a:gd name="T77" fmla="*/ 118 h 295"/>
              <a:gd name="T78" fmla="*/ 180 w 214"/>
              <a:gd name="T79" fmla="*/ 116 h 295"/>
              <a:gd name="T80" fmla="*/ 122 w 214"/>
              <a:gd name="T81" fmla="*/ 100 h 295"/>
              <a:gd name="T82" fmla="*/ 112 w 214"/>
              <a:gd name="T83" fmla="*/ 106 h 295"/>
              <a:gd name="T84" fmla="*/ 162 w 214"/>
              <a:gd name="T85" fmla="*/ 202 h 295"/>
              <a:gd name="T86" fmla="*/ 33 w 214"/>
              <a:gd name="T87" fmla="*/ 202 h 295"/>
              <a:gd name="T88" fmla="*/ 27 w 214"/>
              <a:gd name="T89" fmla="*/ 153 h 295"/>
              <a:gd name="T90" fmla="*/ 31 w 214"/>
              <a:gd name="T91" fmla="*/ 113 h 295"/>
              <a:gd name="T92" fmla="*/ 49 w 214"/>
              <a:gd name="T93" fmla="*/ 72 h 295"/>
              <a:gd name="T94" fmla="*/ 109 w 214"/>
              <a:gd name="T95" fmla="*/ 21 h 295"/>
              <a:gd name="T96" fmla="*/ 117 w 214"/>
              <a:gd name="T97" fmla="*/ 16 h 295"/>
              <a:gd name="T98" fmla="*/ 120 w 214"/>
              <a:gd name="T99" fmla="*/ 40 h 295"/>
              <a:gd name="T100" fmla="*/ 176 w 214"/>
              <a:gd name="T101" fmla="*/ 79 h 295"/>
              <a:gd name="T102" fmla="*/ 200 w 214"/>
              <a:gd name="T103" fmla="*/ 97 h 295"/>
              <a:gd name="T104" fmla="*/ 191 w 214"/>
              <a:gd name="T105" fmla="*/ 11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14" h="295">
                <a:moveTo>
                  <a:pt x="213" y="97"/>
                </a:moveTo>
                <a:cubicBezTo>
                  <a:pt x="214" y="94"/>
                  <a:pt x="213" y="91"/>
                  <a:pt x="211" y="90"/>
                </a:cubicBezTo>
                <a:cubicBezTo>
                  <a:pt x="185" y="73"/>
                  <a:pt x="185" y="73"/>
                  <a:pt x="185" y="73"/>
                </a:cubicBezTo>
                <a:cubicBezTo>
                  <a:pt x="185" y="73"/>
                  <a:pt x="185" y="73"/>
                  <a:pt x="185" y="73"/>
                </a:cubicBezTo>
                <a:cubicBezTo>
                  <a:pt x="174" y="49"/>
                  <a:pt x="174" y="49"/>
                  <a:pt x="174" y="49"/>
                </a:cubicBezTo>
                <a:cubicBezTo>
                  <a:pt x="173" y="47"/>
                  <a:pt x="172" y="46"/>
                  <a:pt x="170" y="46"/>
                </a:cubicBezTo>
                <a:cubicBezTo>
                  <a:pt x="128" y="31"/>
                  <a:pt x="128" y="31"/>
                  <a:pt x="128" y="31"/>
                </a:cubicBezTo>
                <a:cubicBezTo>
                  <a:pt x="129" y="6"/>
                  <a:pt x="129" y="6"/>
                  <a:pt x="129" y="6"/>
                </a:cubicBezTo>
                <a:cubicBezTo>
                  <a:pt x="129" y="4"/>
                  <a:pt x="128" y="2"/>
                  <a:pt x="126" y="1"/>
                </a:cubicBezTo>
                <a:cubicBezTo>
                  <a:pt x="125" y="0"/>
                  <a:pt x="124" y="0"/>
                  <a:pt x="123" y="0"/>
                </a:cubicBezTo>
                <a:cubicBezTo>
                  <a:pt x="122" y="0"/>
                  <a:pt x="121" y="0"/>
                  <a:pt x="120" y="1"/>
                </a:cubicBezTo>
                <a:cubicBezTo>
                  <a:pt x="119" y="2"/>
                  <a:pt x="110" y="7"/>
                  <a:pt x="99" y="14"/>
                </a:cubicBezTo>
                <a:cubicBezTo>
                  <a:pt x="95" y="17"/>
                  <a:pt x="92" y="19"/>
                  <a:pt x="88" y="22"/>
                </a:cubicBezTo>
                <a:cubicBezTo>
                  <a:pt x="86" y="23"/>
                  <a:pt x="84" y="25"/>
                  <a:pt x="81" y="27"/>
                </a:cubicBezTo>
                <a:cubicBezTo>
                  <a:pt x="70" y="35"/>
                  <a:pt x="61" y="42"/>
                  <a:pt x="54" y="49"/>
                </a:cubicBezTo>
                <a:cubicBezTo>
                  <a:pt x="46" y="56"/>
                  <a:pt x="41" y="62"/>
                  <a:pt x="38" y="67"/>
                </a:cubicBezTo>
                <a:cubicBezTo>
                  <a:pt x="37" y="69"/>
                  <a:pt x="36" y="71"/>
                  <a:pt x="35" y="73"/>
                </a:cubicBezTo>
                <a:cubicBezTo>
                  <a:pt x="29" y="86"/>
                  <a:pt x="22" y="99"/>
                  <a:pt x="18" y="116"/>
                </a:cubicBezTo>
                <a:cubicBezTo>
                  <a:pt x="17" y="120"/>
                  <a:pt x="17" y="124"/>
                  <a:pt x="16" y="128"/>
                </a:cubicBezTo>
                <a:cubicBezTo>
                  <a:pt x="15" y="137"/>
                  <a:pt x="15" y="145"/>
                  <a:pt x="16" y="154"/>
                </a:cubicBezTo>
                <a:cubicBezTo>
                  <a:pt x="18" y="182"/>
                  <a:pt x="21" y="199"/>
                  <a:pt x="22" y="206"/>
                </a:cubicBezTo>
                <a:cubicBezTo>
                  <a:pt x="23" y="206"/>
                  <a:pt x="23" y="206"/>
                  <a:pt x="23" y="206"/>
                </a:cubicBezTo>
                <a:cubicBezTo>
                  <a:pt x="22" y="206"/>
                  <a:pt x="22" y="206"/>
                  <a:pt x="22" y="206"/>
                </a:cubicBezTo>
                <a:cubicBezTo>
                  <a:pt x="20" y="208"/>
                  <a:pt x="19" y="210"/>
                  <a:pt x="17" y="212"/>
                </a:cubicBezTo>
                <a:cubicBezTo>
                  <a:pt x="16" y="213"/>
                  <a:pt x="16" y="213"/>
                  <a:pt x="16" y="213"/>
                </a:cubicBezTo>
                <a:cubicBezTo>
                  <a:pt x="9" y="222"/>
                  <a:pt x="0" y="236"/>
                  <a:pt x="0" y="251"/>
                </a:cubicBezTo>
                <a:cubicBezTo>
                  <a:pt x="0" y="289"/>
                  <a:pt x="0" y="289"/>
                  <a:pt x="0" y="289"/>
                </a:cubicBezTo>
                <a:cubicBezTo>
                  <a:pt x="0" y="293"/>
                  <a:pt x="3" y="295"/>
                  <a:pt x="6" y="295"/>
                </a:cubicBezTo>
                <a:cubicBezTo>
                  <a:pt x="192" y="295"/>
                  <a:pt x="192" y="295"/>
                  <a:pt x="192" y="295"/>
                </a:cubicBezTo>
                <a:cubicBezTo>
                  <a:pt x="195" y="295"/>
                  <a:pt x="197" y="293"/>
                  <a:pt x="197" y="289"/>
                </a:cubicBezTo>
                <a:cubicBezTo>
                  <a:pt x="197" y="251"/>
                  <a:pt x="197" y="251"/>
                  <a:pt x="197" y="251"/>
                </a:cubicBezTo>
                <a:cubicBezTo>
                  <a:pt x="197" y="236"/>
                  <a:pt x="189" y="222"/>
                  <a:pt x="182" y="213"/>
                </a:cubicBezTo>
                <a:cubicBezTo>
                  <a:pt x="181" y="213"/>
                  <a:pt x="181" y="213"/>
                  <a:pt x="181" y="212"/>
                </a:cubicBezTo>
                <a:cubicBezTo>
                  <a:pt x="179" y="210"/>
                  <a:pt x="177" y="208"/>
                  <a:pt x="175" y="206"/>
                </a:cubicBezTo>
                <a:cubicBezTo>
                  <a:pt x="175" y="206"/>
                  <a:pt x="175" y="206"/>
                  <a:pt x="174" y="205"/>
                </a:cubicBezTo>
                <a:cubicBezTo>
                  <a:pt x="174" y="205"/>
                  <a:pt x="174" y="205"/>
                  <a:pt x="174" y="205"/>
                </a:cubicBezTo>
                <a:cubicBezTo>
                  <a:pt x="174" y="205"/>
                  <a:pt x="174" y="205"/>
                  <a:pt x="174" y="205"/>
                </a:cubicBezTo>
                <a:cubicBezTo>
                  <a:pt x="173" y="199"/>
                  <a:pt x="171" y="191"/>
                  <a:pt x="167" y="183"/>
                </a:cubicBezTo>
                <a:cubicBezTo>
                  <a:pt x="158" y="160"/>
                  <a:pt x="144" y="135"/>
                  <a:pt x="133" y="117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4" y="116"/>
                  <a:pt x="134" y="116"/>
                  <a:pt x="134" y="116"/>
                </a:cubicBezTo>
                <a:cubicBezTo>
                  <a:pt x="143" y="119"/>
                  <a:pt x="155" y="122"/>
                  <a:pt x="170" y="126"/>
                </a:cubicBezTo>
                <a:cubicBezTo>
                  <a:pt x="174" y="126"/>
                  <a:pt x="178" y="127"/>
                  <a:pt x="182" y="128"/>
                </a:cubicBezTo>
                <a:cubicBezTo>
                  <a:pt x="186" y="129"/>
                  <a:pt x="190" y="130"/>
                  <a:pt x="193" y="131"/>
                </a:cubicBezTo>
                <a:cubicBezTo>
                  <a:pt x="196" y="131"/>
                  <a:pt x="199" y="130"/>
                  <a:pt x="200" y="127"/>
                </a:cubicBezTo>
                <a:lnTo>
                  <a:pt x="213" y="97"/>
                </a:lnTo>
                <a:close/>
                <a:moveTo>
                  <a:pt x="185" y="242"/>
                </a:moveTo>
                <a:cubicBezTo>
                  <a:pt x="185" y="243"/>
                  <a:pt x="185" y="243"/>
                  <a:pt x="185" y="243"/>
                </a:cubicBezTo>
                <a:cubicBezTo>
                  <a:pt x="186" y="246"/>
                  <a:pt x="186" y="248"/>
                  <a:pt x="186" y="251"/>
                </a:cubicBezTo>
                <a:cubicBezTo>
                  <a:pt x="186" y="284"/>
                  <a:pt x="186" y="284"/>
                  <a:pt x="186" y="284"/>
                </a:cubicBezTo>
                <a:cubicBezTo>
                  <a:pt x="12" y="284"/>
                  <a:pt x="12" y="284"/>
                  <a:pt x="12" y="284"/>
                </a:cubicBezTo>
                <a:cubicBezTo>
                  <a:pt x="12" y="251"/>
                  <a:pt x="12" y="251"/>
                  <a:pt x="12" y="251"/>
                </a:cubicBezTo>
                <a:cubicBezTo>
                  <a:pt x="12" y="248"/>
                  <a:pt x="12" y="246"/>
                  <a:pt x="13" y="243"/>
                </a:cubicBezTo>
                <a:cubicBezTo>
                  <a:pt x="13" y="242"/>
                  <a:pt x="13" y="242"/>
                  <a:pt x="13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2"/>
                  <a:pt x="104" y="242"/>
                  <a:pt x="104" y="242"/>
                </a:cubicBezTo>
                <a:lnTo>
                  <a:pt x="185" y="242"/>
                </a:lnTo>
                <a:close/>
                <a:moveTo>
                  <a:pt x="171" y="219"/>
                </a:moveTo>
                <a:cubicBezTo>
                  <a:pt x="172" y="220"/>
                  <a:pt x="172" y="220"/>
                  <a:pt x="172" y="220"/>
                </a:cubicBezTo>
                <a:cubicBezTo>
                  <a:pt x="173" y="220"/>
                  <a:pt x="173" y="220"/>
                  <a:pt x="173" y="220"/>
                </a:cubicBezTo>
                <a:cubicBezTo>
                  <a:pt x="175" y="223"/>
                  <a:pt x="177" y="226"/>
                  <a:pt x="179" y="230"/>
                </a:cubicBezTo>
                <a:cubicBezTo>
                  <a:pt x="180" y="231"/>
                  <a:pt x="180" y="231"/>
                  <a:pt x="180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8" y="231"/>
                  <a:pt x="18" y="231"/>
                  <a:pt x="18" y="231"/>
                </a:cubicBezTo>
                <a:cubicBezTo>
                  <a:pt x="19" y="230"/>
                  <a:pt x="19" y="230"/>
                  <a:pt x="19" y="230"/>
                </a:cubicBezTo>
                <a:cubicBezTo>
                  <a:pt x="20" y="226"/>
                  <a:pt x="23" y="223"/>
                  <a:pt x="25" y="220"/>
                </a:cubicBezTo>
                <a:cubicBezTo>
                  <a:pt x="25" y="220"/>
                  <a:pt x="25" y="220"/>
                  <a:pt x="25" y="220"/>
                </a:cubicBezTo>
                <a:cubicBezTo>
                  <a:pt x="26" y="220"/>
                  <a:pt x="26" y="220"/>
                  <a:pt x="26" y="219"/>
                </a:cubicBezTo>
                <a:cubicBezTo>
                  <a:pt x="31" y="214"/>
                  <a:pt x="31" y="214"/>
                  <a:pt x="31" y="214"/>
                </a:cubicBezTo>
                <a:cubicBezTo>
                  <a:pt x="166" y="214"/>
                  <a:pt x="166" y="214"/>
                  <a:pt x="166" y="214"/>
                </a:cubicBezTo>
                <a:lnTo>
                  <a:pt x="171" y="219"/>
                </a:lnTo>
                <a:close/>
                <a:moveTo>
                  <a:pt x="191" y="118"/>
                </a:moveTo>
                <a:cubicBezTo>
                  <a:pt x="191" y="118"/>
                  <a:pt x="191" y="118"/>
                  <a:pt x="191" y="118"/>
                </a:cubicBezTo>
                <a:cubicBezTo>
                  <a:pt x="187" y="118"/>
                  <a:pt x="183" y="117"/>
                  <a:pt x="180" y="116"/>
                </a:cubicBezTo>
                <a:cubicBezTo>
                  <a:pt x="175" y="115"/>
                  <a:pt x="171" y="114"/>
                  <a:pt x="167" y="113"/>
                </a:cubicBezTo>
                <a:cubicBezTo>
                  <a:pt x="142" y="108"/>
                  <a:pt x="125" y="103"/>
                  <a:pt x="122" y="100"/>
                </a:cubicBezTo>
                <a:cubicBezTo>
                  <a:pt x="120" y="98"/>
                  <a:pt x="116" y="97"/>
                  <a:pt x="114" y="99"/>
                </a:cubicBezTo>
                <a:cubicBezTo>
                  <a:pt x="111" y="100"/>
                  <a:pt x="111" y="104"/>
                  <a:pt x="112" y="106"/>
                </a:cubicBezTo>
                <a:cubicBezTo>
                  <a:pt x="114" y="109"/>
                  <a:pt x="152" y="167"/>
                  <a:pt x="162" y="202"/>
                </a:cubicBezTo>
                <a:cubicBezTo>
                  <a:pt x="162" y="202"/>
                  <a:pt x="162" y="202"/>
                  <a:pt x="162" y="202"/>
                </a:cubicBezTo>
                <a:cubicBezTo>
                  <a:pt x="33" y="202"/>
                  <a:pt x="33" y="202"/>
                  <a:pt x="33" y="202"/>
                </a:cubicBezTo>
                <a:cubicBezTo>
                  <a:pt x="33" y="202"/>
                  <a:pt x="33" y="202"/>
                  <a:pt x="33" y="202"/>
                </a:cubicBezTo>
                <a:cubicBezTo>
                  <a:pt x="32" y="198"/>
                  <a:pt x="31" y="192"/>
                  <a:pt x="30" y="183"/>
                </a:cubicBezTo>
                <a:cubicBezTo>
                  <a:pt x="29" y="174"/>
                  <a:pt x="28" y="164"/>
                  <a:pt x="27" y="153"/>
                </a:cubicBezTo>
                <a:cubicBezTo>
                  <a:pt x="26" y="144"/>
                  <a:pt x="27" y="135"/>
                  <a:pt x="28" y="126"/>
                </a:cubicBezTo>
                <a:cubicBezTo>
                  <a:pt x="29" y="122"/>
                  <a:pt x="30" y="117"/>
                  <a:pt x="31" y="113"/>
                </a:cubicBezTo>
                <a:cubicBezTo>
                  <a:pt x="35" y="100"/>
                  <a:pt x="40" y="89"/>
                  <a:pt x="45" y="79"/>
                </a:cubicBezTo>
                <a:cubicBezTo>
                  <a:pt x="46" y="77"/>
                  <a:pt x="48" y="74"/>
                  <a:pt x="49" y="72"/>
                </a:cubicBezTo>
                <a:cubicBezTo>
                  <a:pt x="54" y="61"/>
                  <a:pt x="79" y="42"/>
                  <a:pt x="99" y="28"/>
                </a:cubicBezTo>
                <a:cubicBezTo>
                  <a:pt x="102" y="26"/>
                  <a:pt x="106" y="24"/>
                  <a:pt x="109" y="21"/>
                </a:cubicBezTo>
                <a:cubicBezTo>
                  <a:pt x="112" y="20"/>
                  <a:pt x="114" y="18"/>
                  <a:pt x="116" y="17"/>
                </a:cubicBezTo>
                <a:cubicBezTo>
                  <a:pt x="117" y="16"/>
                  <a:pt x="117" y="16"/>
                  <a:pt x="117" y="16"/>
                </a:cubicBezTo>
                <a:cubicBezTo>
                  <a:pt x="116" y="35"/>
                  <a:pt x="116" y="35"/>
                  <a:pt x="116" y="35"/>
                </a:cubicBezTo>
                <a:cubicBezTo>
                  <a:pt x="116" y="37"/>
                  <a:pt x="118" y="39"/>
                  <a:pt x="120" y="40"/>
                </a:cubicBezTo>
                <a:cubicBezTo>
                  <a:pt x="164" y="56"/>
                  <a:pt x="164" y="56"/>
                  <a:pt x="164" y="56"/>
                </a:cubicBezTo>
                <a:cubicBezTo>
                  <a:pt x="176" y="79"/>
                  <a:pt x="176" y="79"/>
                  <a:pt x="176" y="79"/>
                </a:cubicBezTo>
                <a:cubicBezTo>
                  <a:pt x="176" y="80"/>
                  <a:pt x="177" y="81"/>
                  <a:pt x="178" y="82"/>
                </a:cubicBezTo>
                <a:cubicBezTo>
                  <a:pt x="200" y="97"/>
                  <a:pt x="200" y="97"/>
                  <a:pt x="200" y="97"/>
                </a:cubicBezTo>
                <a:cubicBezTo>
                  <a:pt x="200" y="97"/>
                  <a:pt x="200" y="97"/>
                  <a:pt x="200" y="97"/>
                </a:cubicBezTo>
                <a:lnTo>
                  <a:pt x="191" y="11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Medium"/>
              <a:ea typeface="+mn-ea"/>
              <a:cs typeface="Arial" charset="0"/>
            </a:endParaRPr>
          </a:p>
        </p:txBody>
      </p:sp>
      <p:grpSp>
        <p:nvGrpSpPr>
          <p:cNvPr id="32" name="Group 100">
            <a:extLst>
              <a:ext uri="{FF2B5EF4-FFF2-40B4-BE49-F238E27FC236}">
                <a16:creationId xmlns:a16="http://schemas.microsoft.com/office/drawing/2014/main" id="{B5228EB8-094B-FC73-28F2-0DE352CCAA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425456" y="3686361"/>
            <a:ext cx="459095" cy="458016"/>
            <a:chOff x="5504" y="1721"/>
            <a:chExt cx="426" cy="425"/>
          </a:xfrm>
          <a:solidFill>
            <a:schemeClr val="accent3"/>
          </a:solidFill>
        </p:grpSpPr>
        <p:sp>
          <p:nvSpPr>
            <p:cNvPr id="33" name="Freeform 101">
              <a:extLst>
                <a:ext uri="{FF2B5EF4-FFF2-40B4-BE49-F238E27FC236}">
                  <a16:creationId xmlns:a16="http://schemas.microsoft.com/office/drawing/2014/main" id="{9D10BEDB-C999-0DFE-21C0-9213943E9A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4" y="1951"/>
              <a:ext cx="195" cy="195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30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30"/>
                    <a:pt x="130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34" name="Freeform 102">
              <a:extLst>
                <a:ext uri="{FF2B5EF4-FFF2-40B4-BE49-F238E27FC236}">
                  <a16:creationId xmlns:a16="http://schemas.microsoft.com/office/drawing/2014/main" id="{CF28AA00-86FD-AD19-78E7-08A4C160B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" y="1774"/>
              <a:ext cx="161" cy="159"/>
            </a:xfrm>
            <a:custGeom>
              <a:avLst/>
              <a:gdLst>
                <a:gd name="T0" fmla="*/ 6 w 109"/>
                <a:gd name="T1" fmla="*/ 108 h 108"/>
                <a:gd name="T2" fmla="*/ 2 w 109"/>
                <a:gd name="T3" fmla="*/ 106 h 108"/>
                <a:gd name="T4" fmla="*/ 2 w 109"/>
                <a:gd name="T5" fmla="*/ 98 h 108"/>
                <a:gd name="T6" fmla="*/ 98 w 109"/>
                <a:gd name="T7" fmla="*/ 2 h 108"/>
                <a:gd name="T8" fmla="*/ 106 w 109"/>
                <a:gd name="T9" fmla="*/ 2 h 108"/>
                <a:gd name="T10" fmla="*/ 106 w 109"/>
                <a:gd name="T11" fmla="*/ 10 h 108"/>
                <a:gd name="T12" fmla="*/ 10 w 109"/>
                <a:gd name="T13" fmla="*/ 106 h 108"/>
                <a:gd name="T14" fmla="*/ 6 w 109"/>
                <a:gd name="T1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108">
                  <a:moveTo>
                    <a:pt x="6" y="108"/>
                  </a:moveTo>
                  <a:cubicBezTo>
                    <a:pt x="5" y="108"/>
                    <a:pt x="3" y="108"/>
                    <a:pt x="2" y="106"/>
                  </a:cubicBezTo>
                  <a:cubicBezTo>
                    <a:pt x="0" y="104"/>
                    <a:pt x="0" y="100"/>
                    <a:pt x="2" y="98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100" y="0"/>
                    <a:pt x="104" y="0"/>
                    <a:pt x="106" y="2"/>
                  </a:cubicBezTo>
                  <a:cubicBezTo>
                    <a:pt x="109" y="4"/>
                    <a:pt x="109" y="8"/>
                    <a:pt x="106" y="10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9" y="108"/>
                    <a:pt x="8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35" name="Freeform 103">
              <a:extLst>
                <a:ext uri="{FF2B5EF4-FFF2-40B4-BE49-F238E27FC236}">
                  <a16:creationId xmlns:a16="http://schemas.microsoft.com/office/drawing/2014/main" id="{BA2B3BEF-0A89-BE32-8C4B-8A57D3845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" y="1774"/>
              <a:ext cx="107" cy="106"/>
            </a:xfrm>
            <a:custGeom>
              <a:avLst/>
              <a:gdLst>
                <a:gd name="T0" fmla="*/ 66 w 72"/>
                <a:gd name="T1" fmla="*/ 72 h 72"/>
                <a:gd name="T2" fmla="*/ 60 w 72"/>
                <a:gd name="T3" fmla="*/ 66 h 72"/>
                <a:gd name="T4" fmla="*/ 60 w 72"/>
                <a:gd name="T5" fmla="*/ 12 h 72"/>
                <a:gd name="T6" fmla="*/ 6 w 72"/>
                <a:gd name="T7" fmla="*/ 12 h 72"/>
                <a:gd name="T8" fmla="*/ 0 w 72"/>
                <a:gd name="T9" fmla="*/ 6 h 72"/>
                <a:gd name="T10" fmla="*/ 6 w 72"/>
                <a:gd name="T11" fmla="*/ 0 h 72"/>
                <a:gd name="T12" fmla="*/ 66 w 72"/>
                <a:gd name="T13" fmla="*/ 0 h 72"/>
                <a:gd name="T14" fmla="*/ 72 w 72"/>
                <a:gd name="T15" fmla="*/ 6 h 72"/>
                <a:gd name="T16" fmla="*/ 72 w 72"/>
                <a:gd name="T17" fmla="*/ 66 h 72"/>
                <a:gd name="T18" fmla="*/ 66 w 72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66" y="72"/>
                  </a:moveTo>
                  <a:cubicBezTo>
                    <a:pt x="63" y="72"/>
                    <a:pt x="60" y="70"/>
                    <a:pt x="60" y="66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72" y="70"/>
                    <a:pt x="70" y="72"/>
                    <a:pt x="6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13DF1C4F-DECD-B236-6467-D7CBD9D63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721"/>
              <a:ext cx="35" cy="35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6 h 24"/>
                <a:gd name="T6" fmla="*/ 6 w 24"/>
                <a:gd name="T7" fmla="*/ 0 h 24"/>
                <a:gd name="T8" fmla="*/ 18 w 24"/>
                <a:gd name="T9" fmla="*/ 0 h 24"/>
                <a:gd name="T10" fmla="*/ 24 w 24"/>
                <a:gd name="T11" fmla="*/ 6 h 24"/>
                <a:gd name="T12" fmla="*/ 18 w 24"/>
                <a:gd name="T13" fmla="*/ 12 h 24"/>
                <a:gd name="T14" fmla="*/ 12 w 24"/>
                <a:gd name="T15" fmla="*/ 12 h 24"/>
                <a:gd name="T16" fmla="*/ 12 w 24"/>
                <a:gd name="T17" fmla="*/ 18 h 24"/>
                <a:gd name="T18" fmla="*/ 6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37" name="Freeform 105">
              <a:extLst>
                <a:ext uri="{FF2B5EF4-FFF2-40B4-BE49-F238E27FC236}">
                  <a16:creationId xmlns:a16="http://schemas.microsoft.com/office/drawing/2014/main" id="{8D1B6CE5-6796-552F-0515-1C885C75D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" y="1721"/>
              <a:ext cx="35" cy="35"/>
            </a:xfrm>
            <a:custGeom>
              <a:avLst/>
              <a:gdLst>
                <a:gd name="T0" fmla="*/ 18 w 24"/>
                <a:gd name="T1" fmla="*/ 24 h 24"/>
                <a:gd name="T2" fmla="*/ 12 w 24"/>
                <a:gd name="T3" fmla="*/ 18 h 24"/>
                <a:gd name="T4" fmla="*/ 12 w 24"/>
                <a:gd name="T5" fmla="*/ 12 h 24"/>
                <a:gd name="T6" fmla="*/ 6 w 24"/>
                <a:gd name="T7" fmla="*/ 12 h 24"/>
                <a:gd name="T8" fmla="*/ 0 w 24"/>
                <a:gd name="T9" fmla="*/ 6 h 24"/>
                <a:gd name="T10" fmla="*/ 6 w 24"/>
                <a:gd name="T11" fmla="*/ 0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15" y="24"/>
                    <a:pt x="12" y="22"/>
                    <a:pt x="12" y="18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38" name="Freeform 106">
              <a:extLst>
                <a:ext uri="{FF2B5EF4-FFF2-40B4-BE49-F238E27FC236}">
                  <a16:creationId xmlns:a16="http://schemas.microsoft.com/office/drawing/2014/main" id="{6C60F231-801D-7BE0-7B87-5435F5494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77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39" name="Freeform 107">
              <a:extLst>
                <a:ext uri="{FF2B5EF4-FFF2-40B4-BE49-F238E27FC236}">
                  <a16:creationId xmlns:a16="http://schemas.microsoft.com/office/drawing/2014/main" id="{092E83E1-562F-3709-9EE3-3B44E9056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8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0" name="Freeform 108">
              <a:extLst>
                <a:ext uri="{FF2B5EF4-FFF2-40B4-BE49-F238E27FC236}">
                  <a16:creationId xmlns:a16="http://schemas.microsoft.com/office/drawing/2014/main" id="{BD4AA3C5-BB1D-CD49-5C90-43A8B4D59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1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" name="Freeform 109">
              <a:extLst>
                <a:ext uri="{FF2B5EF4-FFF2-40B4-BE49-F238E27FC236}">
                  <a16:creationId xmlns:a16="http://schemas.microsoft.com/office/drawing/2014/main" id="{02F571FC-2B9E-F45F-E85B-60F82349B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1721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2" name="Freeform 110">
              <a:extLst>
                <a:ext uri="{FF2B5EF4-FFF2-40B4-BE49-F238E27FC236}">
                  <a16:creationId xmlns:a16="http://schemas.microsoft.com/office/drawing/2014/main" id="{9A4A688C-BF10-4190-8D5D-54A6F916F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3" name="Freeform 111">
              <a:extLst>
                <a:ext uri="{FF2B5EF4-FFF2-40B4-BE49-F238E27FC236}">
                  <a16:creationId xmlns:a16="http://schemas.microsoft.com/office/drawing/2014/main" id="{DBE716E9-AE46-8802-D54C-BE7DF32BF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4" name="Freeform 112">
              <a:extLst>
                <a:ext uri="{FF2B5EF4-FFF2-40B4-BE49-F238E27FC236}">
                  <a16:creationId xmlns:a16="http://schemas.microsoft.com/office/drawing/2014/main" id="{770CB058-C690-78BF-A70C-558E54EBF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1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38EC7AC0-EF0F-A7A1-0B77-206001AE3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2058"/>
              <a:ext cx="35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" name="Freeform 114">
              <a:extLst>
                <a:ext uri="{FF2B5EF4-FFF2-40B4-BE49-F238E27FC236}">
                  <a16:creationId xmlns:a16="http://schemas.microsoft.com/office/drawing/2014/main" id="{840501BC-E83D-4FA9-DA05-CB00BB3BE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7" name="Freeform 115">
              <a:extLst>
                <a:ext uri="{FF2B5EF4-FFF2-40B4-BE49-F238E27FC236}">
                  <a16:creationId xmlns:a16="http://schemas.microsoft.com/office/drawing/2014/main" id="{92CE2FA8-6B7A-E78C-AB07-5C9200337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8" name="Freeform 116">
              <a:extLst>
                <a:ext uri="{FF2B5EF4-FFF2-40B4-BE49-F238E27FC236}">
                  <a16:creationId xmlns:a16="http://schemas.microsoft.com/office/drawing/2014/main" id="{7693D1CA-B88D-ED56-272F-3CE478D81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" y="2040"/>
              <a:ext cx="35" cy="35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6 w 24"/>
                <a:gd name="T7" fmla="*/ 12 h 24"/>
                <a:gd name="T8" fmla="*/ 12 w 24"/>
                <a:gd name="T9" fmla="*/ 12 h 24"/>
                <a:gd name="T10" fmla="*/ 12 w 24"/>
                <a:gd name="T11" fmla="*/ 6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15"/>
                    <a:pt x="3" y="12"/>
                    <a:pt x="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5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" name="Freeform 117">
              <a:extLst>
                <a:ext uri="{FF2B5EF4-FFF2-40B4-BE49-F238E27FC236}">
                  <a16:creationId xmlns:a16="http://schemas.microsoft.com/office/drawing/2014/main" id="{4A498328-E0A6-ED7D-8605-170D0D6F7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987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" name="Freeform 118">
              <a:extLst>
                <a:ext uri="{FF2B5EF4-FFF2-40B4-BE49-F238E27FC236}">
                  <a16:creationId xmlns:a16="http://schemas.microsoft.com/office/drawing/2014/main" id="{61F6E54F-7BA0-2B35-6EBE-0F173AA82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933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1" name="Freeform 119">
              <a:extLst>
                <a:ext uri="{FF2B5EF4-FFF2-40B4-BE49-F238E27FC236}">
                  <a16:creationId xmlns:a16="http://schemas.microsoft.com/office/drawing/2014/main" id="{43ABF0AE-C311-214C-E184-F33A856E3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8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2" name="Freeform 120">
              <a:extLst>
                <a:ext uri="{FF2B5EF4-FFF2-40B4-BE49-F238E27FC236}">
                  <a16:creationId xmlns:a16="http://schemas.microsoft.com/office/drawing/2014/main" id="{61D09CA2-6A9C-55F3-FAA0-11DEC87F9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827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3" name="Freeform 121">
              <a:extLst>
                <a:ext uri="{FF2B5EF4-FFF2-40B4-BE49-F238E27FC236}">
                  <a16:creationId xmlns:a16="http://schemas.microsoft.com/office/drawing/2014/main" id="{000A5CEA-20DD-B732-7457-90F5124D5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933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4" name="Freeform 122">
              <a:extLst>
                <a:ext uri="{FF2B5EF4-FFF2-40B4-BE49-F238E27FC236}">
                  <a16:creationId xmlns:a16="http://schemas.microsoft.com/office/drawing/2014/main" id="{A546F0AA-EC7C-0DBA-6201-EC9ECDC0A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8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5" name="Freeform 123">
              <a:extLst>
                <a:ext uri="{FF2B5EF4-FFF2-40B4-BE49-F238E27FC236}">
                  <a16:creationId xmlns:a16="http://schemas.microsoft.com/office/drawing/2014/main" id="{ACEDD1B2-1097-2A28-D6B1-AF9201C23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827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6" name="Freeform 124">
              <a:extLst>
                <a:ext uri="{FF2B5EF4-FFF2-40B4-BE49-F238E27FC236}">
                  <a16:creationId xmlns:a16="http://schemas.microsoft.com/office/drawing/2014/main" id="{BB999B27-780D-BF2B-98B4-748CFE485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77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</p:grp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A051A3E-4255-AE55-26A8-46737651D445}"/>
              </a:ext>
            </a:extLst>
          </p:cNvPr>
          <p:cNvSpPr txBox="1">
            <a:spLocks/>
          </p:cNvSpPr>
          <p:nvPr/>
        </p:nvSpPr>
        <p:spPr>
          <a:xfrm>
            <a:off x="4922200" y="4416243"/>
            <a:ext cx="2909835" cy="121943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Rapidly validate where Cowork creates the most value and arrive at a prioritized plan.</a:t>
            </a:r>
            <a:endParaRPr kumimoji="0" lang="en-US" sz="600" b="0" i="0" u="none" strike="noStrike" kern="1200" cap="none" spc="-4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  <a:p>
            <a:pPr marL="171450" marR="0" lvl="0" indent="-17145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Apply our industry-specific use case libraries to surface and rank your highest-value opportunities</a:t>
            </a:r>
          </a:p>
          <a:p>
            <a:pPr marL="171450" marR="0" lvl="0" indent="-17145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Understand and quantify use case impact</a:t>
            </a:r>
          </a:p>
          <a:p>
            <a:pPr marL="171450" marR="0" lvl="0" indent="-17145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Align stakeholders around a prioritized rollout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323BC37-EE15-435C-1186-1B9BE5E43CA8}"/>
              </a:ext>
            </a:extLst>
          </p:cNvPr>
          <p:cNvSpPr txBox="1">
            <a:spLocks/>
          </p:cNvSpPr>
          <p:nvPr/>
        </p:nvSpPr>
        <p:spPr>
          <a:xfrm>
            <a:off x="8413677" y="4416243"/>
            <a:ext cx="2951387" cy="121943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Deploy and scale Cowork, function-by-function, rigorously measuring impact from Day 1.</a:t>
            </a:r>
            <a:endParaRPr kumimoji="0" lang="en-US" sz="600" b="0" i="0" u="none" strike="noStrike" kern="1200" cap="none" spc="-4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  <a:p>
            <a:pPr marL="171450" marR="0" lvl="0" indent="-17145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Design &amp; deploy Cowork for priority use cases</a:t>
            </a:r>
          </a:p>
          <a:p>
            <a:pPr marL="171450" marR="0" lvl="0" indent="-17145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Train teams &amp; support adoption</a:t>
            </a:r>
          </a:p>
          <a:p>
            <a:pPr marL="171450" marR="0" lvl="0" indent="-17145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Track impact, measure value, and optimize performance as you scale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4D5648-5131-DD05-F37B-9FF2EF543818}"/>
              </a:ext>
            </a:extLst>
          </p:cNvPr>
          <p:cNvCxnSpPr>
            <a:cxnSpLocks/>
          </p:cNvCxnSpPr>
          <p:nvPr/>
        </p:nvCxnSpPr>
        <p:spPr>
          <a:xfrm>
            <a:off x="4427370" y="1520428"/>
            <a:ext cx="0" cy="4673997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BA841B8-76F1-2407-245C-969EFD888A75}"/>
              </a:ext>
            </a:extLst>
          </p:cNvPr>
          <p:cNvSpPr/>
          <p:nvPr/>
        </p:nvSpPr>
        <p:spPr>
          <a:xfrm>
            <a:off x="4859007" y="2396061"/>
            <a:ext cx="6537008" cy="7271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073D2563-0418-F90C-B89E-ED9D3314ABEB}"/>
              </a:ext>
            </a:extLst>
          </p:cNvPr>
          <p:cNvSpPr txBox="1">
            <a:spLocks/>
          </p:cNvSpPr>
          <p:nvPr/>
        </p:nvSpPr>
        <p:spPr>
          <a:xfrm>
            <a:off x="5561559" y="2871801"/>
            <a:ext cx="5193805" cy="235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Productivity Reinvention with Claude Cowork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Semibold" panose="020B07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F798AAF-5164-B051-5B2E-B3C536D5B493}"/>
              </a:ext>
            </a:extLst>
          </p:cNvPr>
          <p:cNvGrpSpPr/>
          <p:nvPr/>
        </p:nvGrpSpPr>
        <p:grpSpPr>
          <a:xfrm>
            <a:off x="7559596" y="2181410"/>
            <a:ext cx="1135831" cy="495278"/>
            <a:chOff x="7532926" y="2181410"/>
            <a:chExt cx="1135831" cy="49527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18F353E-B481-624C-938F-3D1287DE7A49}"/>
                </a:ext>
              </a:extLst>
            </p:cNvPr>
            <p:cNvSpPr/>
            <p:nvPr/>
          </p:nvSpPr>
          <p:spPr>
            <a:xfrm>
              <a:off x="7532926" y="2181410"/>
              <a:ext cx="495278" cy="495278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89FF07C-AA8B-BF6D-FBDD-02F5B328A1AD}"/>
                </a:ext>
              </a:extLst>
            </p:cNvPr>
            <p:cNvGrpSpPr/>
            <p:nvPr/>
          </p:nvGrpSpPr>
          <p:grpSpPr>
            <a:xfrm>
              <a:off x="8173479" y="2181410"/>
              <a:ext cx="495278" cy="495278"/>
              <a:chOff x="8178425" y="2118009"/>
              <a:chExt cx="495278" cy="495278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54AF48D-B4FC-6BDF-E334-FA0BACDD543B}"/>
                  </a:ext>
                </a:extLst>
              </p:cNvPr>
              <p:cNvSpPr/>
              <p:nvPr/>
            </p:nvSpPr>
            <p:spPr>
              <a:xfrm>
                <a:off x="8178425" y="2118009"/>
                <a:ext cx="495278" cy="49527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 Medium"/>
                  <a:ea typeface="+mn-ea"/>
                  <a:cs typeface="+mn-cs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730E95EB-D9BC-B6CC-4C5A-5E352E7217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70771" y="2210355"/>
                <a:ext cx="310586" cy="310586"/>
              </a:xfrm>
              <a:prstGeom prst="rect">
                <a:avLst/>
              </a:prstGeom>
            </p:spPr>
          </p:pic>
        </p:grpSp>
        <p:pic>
          <p:nvPicPr>
            <p:cNvPr id="18" name="Picture 4" descr="Accenture Logo, symbol, meaning, history, PNG, brand">
              <a:extLst>
                <a:ext uri="{FF2B5EF4-FFF2-40B4-BE49-F238E27FC236}">
                  <a16:creationId xmlns:a16="http://schemas.microsoft.com/office/drawing/2014/main" id="{DE0A20C1-102D-97C0-4570-5548C11CFB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589" y="2321503"/>
              <a:ext cx="401252" cy="2257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C56A111-FEFE-5D67-CF7A-590E9375B962}"/>
              </a:ext>
            </a:extLst>
          </p:cNvPr>
          <p:cNvSpPr txBox="1">
            <a:spLocks/>
          </p:cNvSpPr>
          <p:nvPr/>
        </p:nvSpPr>
        <p:spPr>
          <a:xfrm>
            <a:off x="1418691" y="2294036"/>
            <a:ext cx="2561101" cy="7003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We don’t just advise on Cowork, </a:t>
            </a: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n-ea"/>
                <a:cs typeface="+mn-cs"/>
              </a:rPr>
              <a:t>we’re deploying it across 100,000+ users</a:t>
            </a: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 and bringing proven playbooks, not hypotheses.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1BED75B-FEF5-7513-291E-673910E80CB7}"/>
              </a:ext>
            </a:extLst>
          </p:cNvPr>
          <p:cNvSpPr/>
          <p:nvPr/>
        </p:nvSpPr>
        <p:spPr>
          <a:xfrm>
            <a:off x="491101" y="2267501"/>
            <a:ext cx="734157" cy="73415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AFD406FA-D833-132B-156F-85EAC6EEFEA1}"/>
              </a:ext>
            </a:extLst>
          </p:cNvPr>
          <p:cNvSpPr txBox="1">
            <a:spLocks/>
          </p:cNvSpPr>
          <p:nvPr/>
        </p:nvSpPr>
        <p:spPr>
          <a:xfrm>
            <a:off x="1418691" y="3408284"/>
            <a:ext cx="2561101" cy="7003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We operate at the intersection of Anthropic and our enterprise, with </a:t>
            </a: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n-ea"/>
                <a:cs typeface="+mn-cs"/>
              </a:rPr>
              <a:t>direct access to product teams </a:t>
            </a: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and the most cutting-edge delivery accelerators available.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6517C11-7243-C4E4-A621-7D43B32C3B29}"/>
              </a:ext>
            </a:extLst>
          </p:cNvPr>
          <p:cNvSpPr/>
          <p:nvPr/>
        </p:nvSpPr>
        <p:spPr>
          <a:xfrm>
            <a:off x="491101" y="3408284"/>
            <a:ext cx="734157" cy="73415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C103ED15-6FB3-46DB-89C8-950312DC63E9}"/>
              </a:ext>
            </a:extLst>
          </p:cNvPr>
          <p:cNvSpPr txBox="1">
            <a:spLocks/>
          </p:cNvSpPr>
          <p:nvPr/>
        </p:nvSpPr>
        <p:spPr>
          <a:xfrm>
            <a:off x="1418691" y="4515230"/>
            <a:ext cx="2561101" cy="7003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Our philosophy is every AI deployment should be grounded </a:t>
            </a:r>
            <a:r>
              <a:rPr kumimoji="0" lang="en-US" sz="1100" b="1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n-ea"/>
                <a:cs typeface="+mn-cs"/>
              </a:rPr>
              <a:t>in measurement and value capture</a:t>
            </a:r>
            <a:r>
              <a:rPr kumimoji="0" lang="en-US" sz="11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, delivering outcomes you can see clearly.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4018705-620D-9ABD-C1D4-675F57282350}"/>
              </a:ext>
            </a:extLst>
          </p:cNvPr>
          <p:cNvSpPr/>
          <p:nvPr/>
        </p:nvSpPr>
        <p:spPr>
          <a:xfrm>
            <a:off x="491101" y="4515230"/>
            <a:ext cx="734157" cy="73415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grpSp>
        <p:nvGrpSpPr>
          <p:cNvPr id="81" name="Group 130">
            <a:extLst>
              <a:ext uri="{FF2B5EF4-FFF2-40B4-BE49-F238E27FC236}">
                <a16:creationId xmlns:a16="http://schemas.microsoft.com/office/drawing/2014/main" id="{33C682A5-77C3-18CF-03C8-EC0179F891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9981" y="3591177"/>
            <a:ext cx="376397" cy="368370"/>
            <a:chOff x="526" y="1878"/>
            <a:chExt cx="422" cy="413"/>
          </a:xfrm>
          <a:solidFill>
            <a:srgbClr val="000000"/>
          </a:solidFill>
        </p:grpSpPr>
        <p:sp>
          <p:nvSpPr>
            <p:cNvPr id="82" name="Freeform 131">
              <a:extLst>
                <a:ext uri="{FF2B5EF4-FFF2-40B4-BE49-F238E27FC236}">
                  <a16:creationId xmlns:a16="http://schemas.microsoft.com/office/drawing/2014/main" id="{BED1CC53-324D-88EE-21BC-79C7B093A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2201"/>
              <a:ext cx="422" cy="18"/>
            </a:xfrm>
            <a:custGeom>
              <a:avLst/>
              <a:gdLst>
                <a:gd name="T0" fmla="*/ 269 w 275"/>
                <a:gd name="T1" fmla="*/ 12 h 12"/>
                <a:gd name="T2" fmla="*/ 6 w 275"/>
                <a:gd name="T3" fmla="*/ 12 h 12"/>
                <a:gd name="T4" fmla="*/ 0 w 275"/>
                <a:gd name="T5" fmla="*/ 6 h 12"/>
                <a:gd name="T6" fmla="*/ 6 w 275"/>
                <a:gd name="T7" fmla="*/ 0 h 12"/>
                <a:gd name="T8" fmla="*/ 269 w 275"/>
                <a:gd name="T9" fmla="*/ 0 h 12"/>
                <a:gd name="T10" fmla="*/ 275 w 275"/>
                <a:gd name="T11" fmla="*/ 6 h 12"/>
                <a:gd name="T12" fmla="*/ 269 w 27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5" h="12">
                  <a:moveTo>
                    <a:pt x="269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69" y="0"/>
                    <a:pt x="269" y="0"/>
                    <a:pt x="269" y="0"/>
                  </a:cubicBezTo>
                  <a:cubicBezTo>
                    <a:pt x="272" y="0"/>
                    <a:pt x="275" y="3"/>
                    <a:pt x="275" y="6"/>
                  </a:cubicBezTo>
                  <a:cubicBezTo>
                    <a:pt x="275" y="10"/>
                    <a:pt x="272" y="12"/>
                    <a:pt x="26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83" name="Freeform 132">
              <a:extLst>
                <a:ext uri="{FF2B5EF4-FFF2-40B4-BE49-F238E27FC236}">
                  <a16:creationId xmlns:a16="http://schemas.microsoft.com/office/drawing/2014/main" id="{48C66187-6CD3-E247-4EA9-DC0F353F3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2273"/>
              <a:ext cx="422" cy="18"/>
            </a:xfrm>
            <a:custGeom>
              <a:avLst/>
              <a:gdLst>
                <a:gd name="T0" fmla="*/ 269 w 275"/>
                <a:gd name="T1" fmla="*/ 12 h 12"/>
                <a:gd name="T2" fmla="*/ 6 w 275"/>
                <a:gd name="T3" fmla="*/ 12 h 12"/>
                <a:gd name="T4" fmla="*/ 0 w 275"/>
                <a:gd name="T5" fmla="*/ 6 h 12"/>
                <a:gd name="T6" fmla="*/ 6 w 275"/>
                <a:gd name="T7" fmla="*/ 0 h 12"/>
                <a:gd name="T8" fmla="*/ 269 w 275"/>
                <a:gd name="T9" fmla="*/ 0 h 12"/>
                <a:gd name="T10" fmla="*/ 275 w 275"/>
                <a:gd name="T11" fmla="*/ 6 h 12"/>
                <a:gd name="T12" fmla="*/ 269 w 27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5" h="12">
                  <a:moveTo>
                    <a:pt x="269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69" y="0"/>
                    <a:pt x="269" y="0"/>
                    <a:pt x="269" y="0"/>
                  </a:cubicBezTo>
                  <a:cubicBezTo>
                    <a:pt x="272" y="0"/>
                    <a:pt x="275" y="3"/>
                    <a:pt x="275" y="6"/>
                  </a:cubicBezTo>
                  <a:cubicBezTo>
                    <a:pt x="275" y="10"/>
                    <a:pt x="272" y="12"/>
                    <a:pt x="26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84" name="Freeform 133">
              <a:extLst>
                <a:ext uri="{FF2B5EF4-FFF2-40B4-BE49-F238E27FC236}">
                  <a16:creationId xmlns:a16="http://schemas.microsoft.com/office/drawing/2014/main" id="{26C6B845-98D1-3FA3-9E46-89E25524E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2201"/>
              <a:ext cx="19" cy="90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85" name="Freeform 134">
              <a:extLst>
                <a:ext uri="{FF2B5EF4-FFF2-40B4-BE49-F238E27FC236}">
                  <a16:creationId xmlns:a16="http://schemas.microsoft.com/office/drawing/2014/main" id="{AE2FD405-8721-F81D-8B9F-62AD1BECE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" y="2201"/>
              <a:ext cx="18" cy="90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86" name="Freeform 135">
              <a:extLst>
                <a:ext uri="{FF2B5EF4-FFF2-40B4-BE49-F238E27FC236}">
                  <a16:creationId xmlns:a16="http://schemas.microsoft.com/office/drawing/2014/main" id="{2270A522-82CC-879A-5941-32AF49AA3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2201"/>
              <a:ext cx="19" cy="90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87" name="Freeform 136">
              <a:extLst>
                <a:ext uri="{FF2B5EF4-FFF2-40B4-BE49-F238E27FC236}">
                  <a16:creationId xmlns:a16="http://schemas.microsoft.com/office/drawing/2014/main" id="{0165C028-DFF6-B458-337B-57B6C4A93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" y="2201"/>
              <a:ext cx="19" cy="90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88" name="Freeform 137">
              <a:extLst>
                <a:ext uri="{FF2B5EF4-FFF2-40B4-BE49-F238E27FC236}">
                  <a16:creationId xmlns:a16="http://schemas.microsoft.com/office/drawing/2014/main" id="{528DF6E6-DC4C-90DE-32B4-52F23A519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2201"/>
              <a:ext cx="19" cy="90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89" name="Freeform 138">
              <a:extLst>
                <a:ext uri="{FF2B5EF4-FFF2-40B4-BE49-F238E27FC236}">
                  <a16:creationId xmlns:a16="http://schemas.microsoft.com/office/drawing/2014/main" id="{A4CB7421-2536-8CDB-BF20-ECCC91EBA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2201"/>
              <a:ext cx="18" cy="90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90" name="Freeform 139">
              <a:extLst>
                <a:ext uri="{FF2B5EF4-FFF2-40B4-BE49-F238E27FC236}">
                  <a16:creationId xmlns:a16="http://schemas.microsoft.com/office/drawing/2014/main" id="{05F823F3-1CEA-1E23-2D37-2AE4F61C4B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" y="2022"/>
              <a:ext cx="184" cy="161"/>
            </a:xfrm>
            <a:custGeom>
              <a:avLst/>
              <a:gdLst>
                <a:gd name="T0" fmla="*/ 114 w 120"/>
                <a:gd name="T1" fmla="*/ 108 h 108"/>
                <a:gd name="T2" fmla="*/ 6 w 120"/>
                <a:gd name="T3" fmla="*/ 108 h 108"/>
                <a:gd name="T4" fmla="*/ 0 w 120"/>
                <a:gd name="T5" fmla="*/ 102 h 108"/>
                <a:gd name="T6" fmla="*/ 0 w 120"/>
                <a:gd name="T7" fmla="*/ 6 h 108"/>
                <a:gd name="T8" fmla="*/ 6 w 120"/>
                <a:gd name="T9" fmla="*/ 0 h 108"/>
                <a:gd name="T10" fmla="*/ 114 w 120"/>
                <a:gd name="T11" fmla="*/ 0 h 108"/>
                <a:gd name="T12" fmla="*/ 120 w 120"/>
                <a:gd name="T13" fmla="*/ 6 h 108"/>
                <a:gd name="T14" fmla="*/ 120 w 120"/>
                <a:gd name="T15" fmla="*/ 102 h 108"/>
                <a:gd name="T16" fmla="*/ 114 w 120"/>
                <a:gd name="T17" fmla="*/ 108 h 108"/>
                <a:gd name="T18" fmla="*/ 12 w 120"/>
                <a:gd name="T19" fmla="*/ 96 h 108"/>
                <a:gd name="T20" fmla="*/ 108 w 120"/>
                <a:gd name="T21" fmla="*/ 96 h 108"/>
                <a:gd name="T22" fmla="*/ 108 w 120"/>
                <a:gd name="T23" fmla="*/ 12 h 108"/>
                <a:gd name="T24" fmla="*/ 12 w 120"/>
                <a:gd name="T25" fmla="*/ 12 h 108"/>
                <a:gd name="T26" fmla="*/ 12 w 120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108">
                  <a:moveTo>
                    <a:pt x="114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102"/>
                    <a:pt x="120" y="102"/>
                    <a:pt x="120" y="102"/>
                  </a:cubicBezTo>
                  <a:cubicBezTo>
                    <a:pt x="120" y="106"/>
                    <a:pt x="117" y="108"/>
                    <a:pt x="114" y="108"/>
                  </a:cubicBezTo>
                  <a:close/>
                  <a:moveTo>
                    <a:pt x="12" y="96"/>
                  </a:moveTo>
                  <a:cubicBezTo>
                    <a:pt x="108" y="96"/>
                    <a:pt x="108" y="96"/>
                    <a:pt x="108" y="9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91" name="Freeform 140">
              <a:extLst>
                <a:ext uri="{FF2B5EF4-FFF2-40B4-BE49-F238E27FC236}">
                  <a16:creationId xmlns:a16="http://schemas.microsoft.com/office/drawing/2014/main" id="{76E111D8-CECA-60E1-802D-30A435DE4A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" y="2022"/>
              <a:ext cx="184" cy="161"/>
            </a:xfrm>
            <a:custGeom>
              <a:avLst/>
              <a:gdLst>
                <a:gd name="T0" fmla="*/ 114 w 120"/>
                <a:gd name="T1" fmla="*/ 108 h 108"/>
                <a:gd name="T2" fmla="*/ 6 w 120"/>
                <a:gd name="T3" fmla="*/ 108 h 108"/>
                <a:gd name="T4" fmla="*/ 0 w 120"/>
                <a:gd name="T5" fmla="*/ 102 h 108"/>
                <a:gd name="T6" fmla="*/ 0 w 120"/>
                <a:gd name="T7" fmla="*/ 6 h 108"/>
                <a:gd name="T8" fmla="*/ 6 w 120"/>
                <a:gd name="T9" fmla="*/ 0 h 108"/>
                <a:gd name="T10" fmla="*/ 114 w 120"/>
                <a:gd name="T11" fmla="*/ 0 h 108"/>
                <a:gd name="T12" fmla="*/ 120 w 120"/>
                <a:gd name="T13" fmla="*/ 6 h 108"/>
                <a:gd name="T14" fmla="*/ 120 w 120"/>
                <a:gd name="T15" fmla="*/ 102 h 108"/>
                <a:gd name="T16" fmla="*/ 114 w 120"/>
                <a:gd name="T17" fmla="*/ 108 h 108"/>
                <a:gd name="T18" fmla="*/ 12 w 120"/>
                <a:gd name="T19" fmla="*/ 96 h 108"/>
                <a:gd name="T20" fmla="*/ 108 w 120"/>
                <a:gd name="T21" fmla="*/ 96 h 108"/>
                <a:gd name="T22" fmla="*/ 108 w 120"/>
                <a:gd name="T23" fmla="*/ 12 h 108"/>
                <a:gd name="T24" fmla="*/ 12 w 120"/>
                <a:gd name="T25" fmla="*/ 12 h 108"/>
                <a:gd name="T26" fmla="*/ 12 w 120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108">
                  <a:moveTo>
                    <a:pt x="114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102"/>
                    <a:pt x="120" y="102"/>
                    <a:pt x="120" y="102"/>
                  </a:cubicBezTo>
                  <a:cubicBezTo>
                    <a:pt x="120" y="106"/>
                    <a:pt x="117" y="108"/>
                    <a:pt x="114" y="108"/>
                  </a:cubicBezTo>
                  <a:close/>
                  <a:moveTo>
                    <a:pt x="12" y="96"/>
                  </a:moveTo>
                  <a:cubicBezTo>
                    <a:pt x="108" y="96"/>
                    <a:pt x="108" y="96"/>
                    <a:pt x="108" y="9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92" name="Freeform 141">
              <a:extLst>
                <a:ext uri="{FF2B5EF4-FFF2-40B4-BE49-F238E27FC236}">
                  <a16:creationId xmlns:a16="http://schemas.microsoft.com/office/drawing/2014/main" id="{B15CF87A-43E0-1AA1-3DCC-A1937D875C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" y="1878"/>
              <a:ext cx="184" cy="162"/>
            </a:xfrm>
            <a:custGeom>
              <a:avLst/>
              <a:gdLst>
                <a:gd name="T0" fmla="*/ 114 w 120"/>
                <a:gd name="T1" fmla="*/ 108 h 108"/>
                <a:gd name="T2" fmla="*/ 6 w 120"/>
                <a:gd name="T3" fmla="*/ 108 h 108"/>
                <a:gd name="T4" fmla="*/ 0 w 120"/>
                <a:gd name="T5" fmla="*/ 102 h 108"/>
                <a:gd name="T6" fmla="*/ 0 w 120"/>
                <a:gd name="T7" fmla="*/ 6 h 108"/>
                <a:gd name="T8" fmla="*/ 6 w 120"/>
                <a:gd name="T9" fmla="*/ 0 h 108"/>
                <a:gd name="T10" fmla="*/ 114 w 120"/>
                <a:gd name="T11" fmla="*/ 0 h 108"/>
                <a:gd name="T12" fmla="*/ 120 w 120"/>
                <a:gd name="T13" fmla="*/ 6 h 108"/>
                <a:gd name="T14" fmla="*/ 120 w 120"/>
                <a:gd name="T15" fmla="*/ 102 h 108"/>
                <a:gd name="T16" fmla="*/ 114 w 120"/>
                <a:gd name="T17" fmla="*/ 108 h 108"/>
                <a:gd name="T18" fmla="*/ 12 w 120"/>
                <a:gd name="T19" fmla="*/ 96 h 108"/>
                <a:gd name="T20" fmla="*/ 108 w 120"/>
                <a:gd name="T21" fmla="*/ 96 h 108"/>
                <a:gd name="T22" fmla="*/ 108 w 120"/>
                <a:gd name="T23" fmla="*/ 12 h 108"/>
                <a:gd name="T24" fmla="*/ 12 w 120"/>
                <a:gd name="T25" fmla="*/ 12 h 108"/>
                <a:gd name="T26" fmla="*/ 12 w 120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108">
                  <a:moveTo>
                    <a:pt x="114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102"/>
                    <a:pt x="120" y="102"/>
                    <a:pt x="120" y="102"/>
                  </a:cubicBezTo>
                  <a:cubicBezTo>
                    <a:pt x="120" y="106"/>
                    <a:pt x="117" y="108"/>
                    <a:pt x="114" y="108"/>
                  </a:cubicBezTo>
                  <a:close/>
                  <a:moveTo>
                    <a:pt x="12" y="96"/>
                  </a:moveTo>
                  <a:cubicBezTo>
                    <a:pt x="108" y="96"/>
                    <a:pt x="108" y="96"/>
                    <a:pt x="108" y="9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93" name="Freeform 142">
              <a:extLst>
                <a:ext uri="{FF2B5EF4-FFF2-40B4-BE49-F238E27FC236}">
                  <a16:creationId xmlns:a16="http://schemas.microsoft.com/office/drawing/2014/main" id="{0CC3A71B-0673-39E0-E2B7-7BAC06972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" y="1878"/>
              <a:ext cx="74" cy="72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42 w 48"/>
                <a:gd name="T11" fmla="*/ 0 h 48"/>
                <a:gd name="T12" fmla="*/ 48 w 48"/>
                <a:gd name="T13" fmla="*/ 6 h 48"/>
                <a:gd name="T14" fmla="*/ 48 w 48"/>
                <a:gd name="T15" fmla="*/ 42 h 48"/>
                <a:gd name="T16" fmla="*/ 42 w 48"/>
                <a:gd name="T17" fmla="*/ 48 h 48"/>
                <a:gd name="T18" fmla="*/ 12 w 48"/>
                <a:gd name="T19" fmla="*/ 36 h 48"/>
                <a:gd name="T20" fmla="*/ 36 w 48"/>
                <a:gd name="T21" fmla="*/ 36 h 48"/>
                <a:gd name="T22" fmla="*/ 36 w 48"/>
                <a:gd name="T23" fmla="*/ 12 h 48"/>
                <a:gd name="T24" fmla="*/ 12 w 48"/>
                <a:gd name="T25" fmla="*/ 12 h 48"/>
                <a:gd name="T26" fmla="*/ 12 w 48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2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6"/>
                    <a:pt x="45" y="48"/>
                    <a:pt x="42" y="48"/>
                  </a:cubicBezTo>
                  <a:close/>
                  <a:moveTo>
                    <a:pt x="12" y="3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94" name="Freeform 143">
              <a:extLst>
                <a:ext uri="{FF2B5EF4-FFF2-40B4-BE49-F238E27FC236}">
                  <a16:creationId xmlns:a16="http://schemas.microsoft.com/office/drawing/2014/main" id="{0E971AFC-ED4F-4FCE-A0A1-3D804F679B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8" y="2022"/>
              <a:ext cx="74" cy="72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42 w 48"/>
                <a:gd name="T11" fmla="*/ 0 h 48"/>
                <a:gd name="T12" fmla="*/ 48 w 48"/>
                <a:gd name="T13" fmla="*/ 6 h 48"/>
                <a:gd name="T14" fmla="*/ 48 w 48"/>
                <a:gd name="T15" fmla="*/ 42 h 48"/>
                <a:gd name="T16" fmla="*/ 42 w 48"/>
                <a:gd name="T17" fmla="*/ 48 h 48"/>
                <a:gd name="T18" fmla="*/ 12 w 48"/>
                <a:gd name="T19" fmla="*/ 36 h 48"/>
                <a:gd name="T20" fmla="*/ 36 w 48"/>
                <a:gd name="T21" fmla="*/ 36 h 48"/>
                <a:gd name="T22" fmla="*/ 36 w 48"/>
                <a:gd name="T23" fmla="*/ 12 h 48"/>
                <a:gd name="T24" fmla="*/ 12 w 48"/>
                <a:gd name="T25" fmla="*/ 12 h 48"/>
                <a:gd name="T26" fmla="*/ 12 w 48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2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6"/>
                    <a:pt x="45" y="48"/>
                    <a:pt x="42" y="48"/>
                  </a:cubicBezTo>
                  <a:close/>
                  <a:moveTo>
                    <a:pt x="12" y="3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95" name="Freeform 144">
              <a:extLst>
                <a:ext uri="{FF2B5EF4-FFF2-40B4-BE49-F238E27FC236}">
                  <a16:creationId xmlns:a16="http://schemas.microsoft.com/office/drawing/2014/main" id="{7ADE848B-7F2C-32DD-13AC-F7C36B1A16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4" y="2022"/>
              <a:ext cx="74" cy="72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42 w 48"/>
                <a:gd name="T11" fmla="*/ 0 h 48"/>
                <a:gd name="T12" fmla="*/ 48 w 48"/>
                <a:gd name="T13" fmla="*/ 6 h 48"/>
                <a:gd name="T14" fmla="*/ 48 w 48"/>
                <a:gd name="T15" fmla="*/ 42 h 48"/>
                <a:gd name="T16" fmla="*/ 42 w 48"/>
                <a:gd name="T17" fmla="*/ 48 h 48"/>
                <a:gd name="T18" fmla="*/ 12 w 48"/>
                <a:gd name="T19" fmla="*/ 36 h 48"/>
                <a:gd name="T20" fmla="*/ 36 w 48"/>
                <a:gd name="T21" fmla="*/ 36 h 48"/>
                <a:gd name="T22" fmla="*/ 36 w 48"/>
                <a:gd name="T23" fmla="*/ 12 h 48"/>
                <a:gd name="T24" fmla="*/ 12 w 48"/>
                <a:gd name="T25" fmla="*/ 12 h 48"/>
                <a:gd name="T26" fmla="*/ 12 w 48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2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6"/>
                    <a:pt x="45" y="48"/>
                    <a:pt x="42" y="48"/>
                  </a:cubicBezTo>
                  <a:close/>
                  <a:moveTo>
                    <a:pt x="12" y="3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</p:grpSp>
      <p:grpSp>
        <p:nvGrpSpPr>
          <p:cNvPr id="96" name="Group 51">
            <a:extLst>
              <a:ext uri="{FF2B5EF4-FFF2-40B4-BE49-F238E27FC236}">
                <a16:creationId xmlns:a16="http://schemas.microsoft.com/office/drawing/2014/main" id="{A19B16A1-7BB7-EC38-A8AF-B8E8586FF69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698" y="4710023"/>
            <a:ext cx="342963" cy="344571"/>
            <a:chOff x="6538" y="439"/>
            <a:chExt cx="426" cy="428"/>
          </a:xfrm>
          <a:solidFill>
            <a:srgbClr val="000000"/>
          </a:solidFill>
        </p:grpSpPr>
        <p:sp>
          <p:nvSpPr>
            <p:cNvPr id="97" name="Freeform 52">
              <a:extLst>
                <a:ext uri="{FF2B5EF4-FFF2-40B4-BE49-F238E27FC236}">
                  <a16:creationId xmlns:a16="http://schemas.microsoft.com/office/drawing/2014/main" id="{49AB5A72-AECD-9767-9E78-74435BB108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38" y="439"/>
              <a:ext cx="426" cy="428"/>
            </a:xfrm>
            <a:custGeom>
              <a:avLst/>
              <a:gdLst>
                <a:gd name="T0" fmla="*/ 282 w 288"/>
                <a:gd name="T1" fmla="*/ 289 h 289"/>
                <a:gd name="T2" fmla="*/ 6 w 288"/>
                <a:gd name="T3" fmla="*/ 289 h 289"/>
                <a:gd name="T4" fmla="*/ 0 w 288"/>
                <a:gd name="T5" fmla="*/ 283 h 289"/>
                <a:gd name="T6" fmla="*/ 0 w 288"/>
                <a:gd name="T7" fmla="*/ 7 h 289"/>
                <a:gd name="T8" fmla="*/ 3 w 288"/>
                <a:gd name="T9" fmla="*/ 1 h 289"/>
                <a:gd name="T10" fmla="*/ 10 w 288"/>
                <a:gd name="T11" fmla="*/ 3 h 289"/>
                <a:gd name="T12" fmla="*/ 286 w 288"/>
                <a:gd name="T13" fmla="*/ 279 h 289"/>
                <a:gd name="T14" fmla="*/ 287 w 288"/>
                <a:gd name="T15" fmla="*/ 285 h 289"/>
                <a:gd name="T16" fmla="*/ 282 w 288"/>
                <a:gd name="T17" fmla="*/ 289 h 289"/>
                <a:gd name="T18" fmla="*/ 12 w 288"/>
                <a:gd name="T19" fmla="*/ 277 h 289"/>
                <a:gd name="T20" fmla="*/ 267 w 288"/>
                <a:gd name="T21" fmla="*/ 277 h 289"/>
                <a:gd name="T22" fmla="*/ 12 w 288"/>
                <a:gd name="T23" fmla="*/ 21 h 289"/>
                <a:gd name="T24" fmla="*/ 12 w 288"/>
                <a:gd name="T25" fmla="*/ 277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89">
                  <a:moveTo>
                    <a:pt x="282" y="289"/>
                  </a:moveTo>
                  <a:cubicBezTo>
                    <a:pt x="6" y="289"/>
                    <a:pt x="6" y="289"/>
                    <a:pt x="6" y="289"/>
                  </a:cubicBezTo>
                  <a:cubicBezTo>
                    <a:pt x="2" y="289"/>
                    <a:pt x="0" y="286"/>
                    <a:pt x="0" y="28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6" y="0"/>
                    <a:pt x="8" y="1"/>
                    <a:pt x="10" y="3"/>
                  </a:cubicBezTo>
                  <a:cubicBezTo>
                    <a:pt x="286" y="279"/>
                    <a:pt x="286" y="279"/>
                    <a:pt x="286" y="279"/>
                  </a:cubicBezTo>
                  <a:cubicBezTo>
                    <a:pt x="288" y="280"/>
                    <a:pt x="288" y="283"/>
                    <a:pt x="287" y="285"/>
                  </a:cubicBezTo>
                  <a:cubicBezTo>
                    <a:pt x="286" y="287"/>
                    <a:pt x="284" y="289"/>
                    <a:pt x="282" y="289"/>
                  </a:cubicBezTo>
                  <a:close/>
                  <a:moveTo>
                    <a:pt x="12" y="277"/>
                  </a:moveTo>
                  <a:cubicBezTo>
                    <a:pt x="267" y="277"/>
                    <a:pt x="267" y="277"/>
                    <a:pt x="267" y="277"/>
                  </a:cubicBezTo>
                  <a:cubicBezTo>
                    <a:pt x="12" y="21"/>
                    <a:pt x="12" y="21"/>
                    <a:pt x="12" y="21"/>
                  </a:cubicBezTo>
                  <a:lnTo>
                    <a:pt x="12" y="2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8" name="Freeform 53">
              <a:extLst>
                <a:ext uri="{FF2B5EF4-FFF2-40B4-BE49-F238E27FC236}">
                  <a16:creationId xmlns:a16="http://schemas.microsoft.com/office/drawing/2014/main" id="{5A2B79A4-A7BD-5249-FA26-E2688A2B8D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1" y="608"/>
              <a:ext cx="204" cy="205"/>
            </a:xfrm>
            <a:custGeom>
              <a:avLst/>
              <a:gdLst>
                <a:gd name="T0" fmla="*/ 132 w 138"/>
                <a:gd name="T1" fmla="*/ 139 h 139"/>
                <a:gd name="T2" fmla="*/ 6 w 138"/>
                <a:gd name="T3" fmla="*/ 139 h 139"/>
                <a:gd name="T4" fmla="*/ 0 w 138"/>
                <a:gd name="T5" fmla="*/ 133 h 139"/>
                <a:gd name="T6" fmla="*/ 0 w 138"/>
                <a:gd name="T7" fmla="*/ 7 h 139"/>
                <a:gd name="T8" fmla="*/ 3 w 138"/>
                <a:gd name="T9" fmla="*/ 1 h 139"/>
                <a:gd name="T10" fmla="*/ 10 w 138"/>
                <a:gd name="T11" fmla="*/ 3 h 139"/>
                <a:gd name="T12" fmla="*/ 136 w 138"/>
                <a:gd name="T13" fmla="*/ 129 h 139"/>
                <a:gd name="T14" fmla="*/ 137 w 138"/>
                <a:gd name="T15" fmla="*/ 135 h 139"/>
                <a:gd name="T16" fmla="*/ 132 w 138"/>
                <a:gd name="T17" fmla="*/ 139 h 139"/>
                <a:gd name="T18" fmla="*/ 12 w 138"/>
                <a:gd name="T19" fmla="*/ 127 h 139"/>
                <a:gd name="T20" fmla="*/ 117 w 138"/>
                <a:gd name="T21" fmla="*/ 127 h 139"/>
                <a:gd name="T22" fmla="*/ 12 w 138"/>
                <a:gd name="T23" fmla="*/ 21 h 139"/>
                <a:gd name="T24" fmla="*/ 12 w 138"/>
                <a:gd name="T25" fmla="*/ 12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9">
                  <a:moveTo>
                    <a:pt x="132" y="139"/>
                  </a:moveTo>
                  <a:cubicBezTo>
                    <a:pt x="6" y="139"/>
                    <a:pt x="6" y="139"/>
                    <a:pt x="6" y="139"/>
                  </a:cubicBezTo>
                  <a:cubicBezTo>
                    <a:pt x="2" y="139"/>
                    <a:pt x="0" y="136"/>
                    <a:pt x="0" y="13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6" y="0"/>
                    <a:pt x="8" y="1"/>
                    <a:pt x="10" y="3"/>
                  </a:cubicBezTo>
                  <a:cubicBezTo>
                    <a:pt x="136" y="129"/>
                    <a:pt x="136" y="129"/>
                    <a:pt x="136" y="129"/>
                  </a:cubicBezTo>
                  <a:cubicBezTo>
                    <a:pt x="138" y="130"/>
                    <a:pt x="138" y="133"/>
                    <a:pt x="137" y="135"/>
                  </a:cubicBezTo>
                  <a:cubicBezTo>
                    <a:pt x="136" y="137"/>
                    <a:pt x="134" y="139"/>
                    <a:pt x="132" y="139"/>
                  </a:cubicBezTo>
                  <a:close/>
                  <a:moveTo>
                    <a:pt x="12" y="127"/>
                  </a:moveTo>
                  <a:cubicBezTo>
                    <a:pt x="117" y="127"/>
                    <a:pt x="117" y="127"/>
                    <a:pt x="117" y="127"/>
                  </a:cubicBezTo>
                  <a:cubicBezTo>
                    <a:pt x="12" y="21"/>
                    <a:pt x="12" y="21"/>
                    <a:pt x="12" y="21"/>
                  </a:cubicBezTo>
                  <a:lnTo>
                    <a:pt x="12" y="1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99" name="Freeform 54">
              <a:extLst>
                <a:ext uri="{FF2B5EF4-FFF2-40B4-BE49-F238E27FC236}">
                  <a16:creationId xmlns:a16="http://schemas.microsoft.com/office/drawing/2014/main" id="{0A5A33AF-E450-B60C-55BB-AC907E9E1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0" y="510"/>
              <a:ext cx="37" cy="37"/>
            </a:xfrm>
            <a:custGeom>
              <a:avLst/>
              <a:gdLst>
                <a:gd name="T0" fmla="*/ 7 w 25"/>
                <a:gd name="T1" fmla="*/ 25 h 25"/>
                <a:gd name="T2" fmla="*/ 2 w 25"/>
                <a:gd name="T3" fmla="*/ 23 h 25"/>
                <a:gd name="T4" fmla="*/ 2 w 25"/>
                <a:gd name="T5" fmla="*/ 15 h 25"/>
                <a:gd name="T6" fmla="*/ 14 w 25"/>
                <a:gd name="T7" fmla="*/ 3 h 25"/>
                <a:gd name="T8" fmla="*/ 23 w 25"/>
                <a:gd name="T9" fmla="*/ 3 h 25"/>
                <a:gd name="T10" fmla="*/ 23 w 25"/>
                <a:gd name="T11" fmla="*/ 11 h 25"/>
                <a:gd name="T12" fmla="*/ 11 w 25"/>
                <a:gd name="T13" fmla="*/ 23 h 25"/>
                <a:gd name="T14" fmla="*/ 7 w 25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7" y="25"/>
                  </a:moveTo>
                  <a:cubicBezTo>
                    <a:pt x="5" y="25"/>
                    <a:pt x="4" y="24"/>
                    <a:pt x="2" y="23"/>
                  </a:cubicBezTo>
                  <a:cubicBezTo>
                    <a:pt x="0" y="21"/>
                    <a:pt x="0" y="17"/>
                    <a:pt x="2" y="1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7" y="0"/>
                    <a:pt x="21" y="0"/>
                    <a:pt x="23" y="3"/>
                  </a:cubicBezTo>
                  <a:cubicBezTo>
                    <a:pt x="25" y="5"/>
                    <a:pt x="25" y="9"/>
                    <a:pt x="23" y="1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4"/>
                    <a:pt x="8" y="25"/>
                    <a:pt x="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00" name="Freeform 55">
              <a:extLst>
                <a:ext uri="{FF2B5EF4-FFF2-40B4-BE49-F238E27FC236}">
                  <a16:creationId xmlns:a16="http://schemas.microsoft.com/office/drawing/2014/main" id="{B7A51892-5E62-DCED-9142-9CC677720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" y="554"/>
              <a:ext cx="37" cy="37"/>
            </a:xfrm>
            <a:custGeom>
              <a:avLst/>
              <a:gdLst>
                <a:gd name="T0" fmla="*/ 7 w 25"/>
                <a:gd name="T1" fmla="*/ 25 h 25"/>
                <a:gd name="T2" fmla="*/ 2 w 25"/>
                <a:gd name="T3" fmla="*/ 23 h 25"/>
                <a:gd name="T4" fmla="*/ 2 w 25"/>
                <a:gd name="T5" fmla="*/ 15 h 25"/>
                <a:gd name="T6" fmla="*/ 14 w 25"/>
                <a:gd name="T7" fmla="*/ 3 h 25"/>
                <a:gd name="T8" fmla="*/ 23 w 25"/>
                <a:gd name="T9" fmla="*/ 3 h 25"/>
                <a:gd name="T10" fmla="*/ 23 w 25"/>
                <a:gd name="T11" fmla="*/ 11 h 25"/>
                <a:gd name="T12" fmla="*/ 11 w 25"/>
                <a:gd name="T13" fmla="*/ 23 h 25"/>
                <a:gd name="T14" fmla="*/ 7 w 25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7" y="25"/>
                  </a:moveTo>
                  <a:cubicBezTo>
                    <a:pt x="5" y="25"/>
                    <a:pt x="4" y="24"/>
                    <a:pt x="2" y="23"/>
                  </a:cubicBezTo>
                  <a:cubicBezTo>
                    <a:pt x="0" y="21"/>
                    <a:pt x="0" y="17"/>
                    <a:pt x="2" y="1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7" y="0"/>
                    <a:pt x="21" y="0"/>
                    <a:pt x="23" y="3"/>
                  </a:cubicBezTo>
                  <a:cubicBezTo>
                    <a:pt x="25" y="5"/>
                    <a:pt x="25" y="9"/>
                    <a:pt x="23" y="1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4"/>
                    <a:pt x="8" y="25"/>
                    <a:pt x="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01" name="Freeform 56">
              <a:extLst>
                <a:ext uri="{FF2B5EF4-FFF2-40B4-BE49-F238E27FC236}">
                  <a16:creationId xmlns:a16="http://schemas.microsoft.com/office/drawing/2014/main" id="{2813F009-7525-E9A6-EBBE-E73D8EBF9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9" y="599"/>
              <a:ext cx="37" cy="37"/>
            </a:xfrm>
            <a:custGeom>
              <a:avLst/>
              <a:gdLst>
                <a:gd name="T0" fmla="*/ 7 w 25"/>
                <a:gd name="T1" fmla="*/ 25 h 25"/>
                <a:gd name="T2" fmla="*/ 2 w 25"/>
                <a:gd name="T3" fmla="*/ 23 h 25"/>
                <a:gd name="T4" fmla="*/ 2 w 25"/>
                <a:gd name="T5" fmla="*/ 15 h 25"/>
                <a:gd name="T6" fmla="*/ 14 w 25"/>
                <a:gd name="T7" fmla="*/ 3 h 25"/>
                <a:gd name="T8" fmla="*/ 23 w 25"/>
                <a:gd name="T9" fmla="*/ 3 h 25"/>
                <a:gd name="T10" fmla="*/ 23 w 25"/>
                <a:gd name="T11" fmla="*/ 11 h 25"/>
                <a:gd name="T12" fmla="*/ 11 w 25"/>
                <a:gd name="T13" fmla="*/ 23 h 25"/>
                <a:gd name="T14" fmla="*/ 7 w 25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7" y="25"/>
                  </a:moveTo>
                  <a:cubicBezTo>
                    <a:pt x="5" y="25"/>
                    <a:pt x="4" y="24"/>
                    <a:pt x="2" y="23"/>
                  </a:cubicBezTo>
                  <a:cubicBezTo>
                    <a:pt x="0" y="21"/>
                    <a:pt x="0" y="17"/>
                    <a:pt x="2" y="1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7" y="0"/>
                    <a:pt x="21" y="0"/>
                    <a:pt x="23" y="3"/>
                  </a:cubicBezTo>
                  <a:cubicBezTo>
                    <a:pt x="25" y="5"/>
                    <a:pt x="25" y="9"/>
                    <a:pt x="23" y="1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4"/>
                    <a:pt x="8" y="25"/>
                    <a:pt x="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02" name="Freeform 57">
              <a:extLst>
                <a:ext uri="{FF2B5EF4-FFF2-40B4-BE49-F238E27FC236}">
                  <a16:creationId xmlns:a16="http://schemas.microsoft.com/office/drawing/2014/main" id="{06DDC44B-B892-C4E5-4A6B-D52DC52A9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3" y="643"/>
              <a:ext cx="37" cy="37"/>
            </a:xfrm>
            <a:custGeom>
              <a:avLst/>
              <a:gdLst>
                <a:gd name="T0" fmla="*/ 7 w 25"/>
                <a:gd name="T1" fmla="*/ 25 h 25"/>
                <a:gd name="T2" fmla="*/ 2 w 25"/>
                <a:gd name="T3" fmla="*/ 23 h 25"/>
                <a:gd name="T4" fmla="*/ 2 w 25"/>
                <a:gd name="T5" fmla="*/ 15 h 25"/>
                <a:gd name="T6" fmla="*/ 14 w 25"/>
                <a:gd name="T7" fmla="*/ 3 h 25"/>
                <a:gd name="T8" fmla="*/ 23 w 25"/>
                <a:gd name="T9" fmla="*/ 3 h 25"/>
                <a:gd name="T10" fmla="*/ 23 w 25"/>
                <a:gd name="T11" fmla="*/ 11 h 25"/>
                <a:gd name="T12" fmla="*/ 11 w 25"/>
                <a:gd name="T13" fmla="*/ 23 h 25"/>
                <a:gd name="T14" fmla="*/ 7 w 25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7" y="25"/>
                  </a:moveTo>
                  <a:cubicBezTo>
                    <a:pt x="5" y="25"/>
                    <a:pt x="4" y="24"/>
                    <a:pt x="2" y="23"/>
                  </a:cubicBezTo>
                  <a:cubicBezTo>
                    <a:pt x="0" y="21"/>
                    <a:pt x="0" y="17"/>
                    <a:pt x="2" y="1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7" y="0"/>
                    <a:pt x="20" y="0"/>
                    <a:pt x="23" y="3"/>
                  </a:cubicBezTo>
                  <a:cubicBezTo>
                    <a:pt x="25" y="5"/>
                    <a:pt x="25" y="9"/>
                    <a:pt x="23" y="1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4"/>
                    <a:pt x="8" y="25"/>
                    <a:pt x="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03" name="Freeform 58">
              <a:extLst>
                <a:ext uri="{FF2B5EF4-FFF2-40B4-BE49-F238E27FC236}">
                  <a16:creationId xmlns:a16="http://schemas.microsoft.com/office/drawing/2014/main" id="{59D7CEB5-199D-B982-0742-7360B3302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7" y="687"/>
              <a:ext cx="37" cy="37"/>
            </a:xfrm>
            <a:custGeom>
              <a:avLst/>
              <a:gdLst>
                <a:gd name="T0" fmla="*/ 7 w 25"/>
                <a:gd name="T1" fmla="*/ 25 h 25"/>
                <a:gd name="T2" fmla="*/ 2 w 25"/>
                <a:gd name="T3" fmla="*/ 23 h 25"/>
                <a:gd name="T4" fmla="*/ 2 w 25"/>
                <a:gd name="T5" fmla="*/ 15 h 25"/>
                <a:gd name="T6" fmla="*/ 14 w 25"/>
                <a:gd name="T7" fmla="*/ 3 h 25"/>
                <a:gd name="T8" fmla="*/ 23 w 25"/>
                <a:gd name="T9" fmla="*/ 3 h 25"/>
                <a:gd name="T10" fmla="*/ 23 w 25"/>
                <a:gd name="T11" fmla="*/ 11 h 25"/>
                <a:gd name="T12" fmla="*/ 11 w 25"/>
                <a:gd name="T13" fmla="*/ 23 h 25"/>
                <a:gd name="T14" fmla="*/ 7 w 25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7" y="25"/>
                  </a:moveTo>
                  <a:cubicBezTo>
                    <a:pt x="5" y="25"/>
                    <a:pt x="4" y="24"/>
                    <a:pt x="2" y="23"/>
                  </a:cubicBezTo>
                  <a:cubicBezTo>
                    <a:pt x="0" y="21"/>
                    <a:pt x="0" y="17"/>
                    <a:pt x="2" y="1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7" y="0"/>
                    <a:pt x="21" y="0"/>
                    <a:pt x="23" y="3"/>
                  </a:cubicBezTo>
                  <a:cubicBezTo>
                    <a:pt x="25" y="5"/>
                    <a:pt x="25" y="9"/>
                    <a:pt x="23" y="1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4"/>
                    <a:pt x="8" y="25"/>
                    <a:pt x="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04" name="Freeform 59">
              <a:extLst>
                <a:ext uri="{FF2B5EF4-FFF2-40B4-BE49-F238E27FC236}">
                  <a16:creationId xmlns:a16="http://schemas.microsoft.com/office/drawing/2014/main" id="{DD0AFBE2-024D-F8ED-39AB-33940CFAB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" y="732"/>
              <a:ext cx="37" cy="37"/>
            </a:xfrm>
            <a:custGeom>
              <a:avLst/>
              <a:gdLst>
                <a:gd name="T0" fmla="*/ 7 w 25"/>
                <a:gd name="T1" fmla="*/ 25 h 25"/>
                <a:gd name="T2" fmla="*/ 2 w 25"/>
                <a:gd name="T3" fmla="*/ 23 h 25"/>
                <a:gd name="T4" fmla="*/ 2 w 25"/>
                <a:gd name="T5" fmla="*/ 15 h 25"/>
                <a:gd name="T6" fmla="*/ 14 w 25"/>
                <a:gd name="T7" fmla="*/ 3 h 25"/>
                <a:gd name="T8" fmla="*/ 23 w 25"/>
                <a:gd name="T9" fmla="*/ 3 h 25"/>
                <a:gd name="T10" fmla="*/ 23 w 25"/>
                <a:gd name="T11" fmla="*/ 11 h 25"/>
                <a:gd name="T12" fmla="*/ 11 w 25"/>
                <a:gd name="T13" fmla="*/ 23 h 25"/>
                <a:gd name="T14" fmla="*/ 7 w 25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7" y="25"/>
                  </a:moveTo>
                  <a:cubicBezTo>
                    <a:pt x="5" y="25"/>
                    <a:pt x="4" y="24"/>
                    <a:pt x="2" y="23"/>
                  </a:cubicBezTo>
                  <a:cubicBezTo>
                    <a:pt x="0" y="21"/>
                    <a:pt x="0" y="17"/>
                    <a:pt x="2" y="1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7" y="0"/>
                    <a:pt x="21" y="0"/>
                    <a:pt x="23" y="3"/>
                  </a:cubicBezTo>
                  <a:cubicBezTo>
                    <a:pt x="25" y="5"/>
                    <a:pt x="25" y="9"/>
                    <a:pt x="23" y="1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4"/>
                    <a:pt x="8" y="25"/>
                    <a:pt x="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548783F7-F08F-B3F2-5792-0D891E118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6" y="776"/>
              <a:ext cx="37" cy="37"/>
            </a:xfrm>
            <a:custGeom>
              <a:avLst/>
              <a:gdLst>
                <a:gd name="T0" fmla="*/ 7 w 25"/>
                <a:gd name="T1" fmla="*/ 25 h 25"/>
                <a:gd name="T2" fmla="*/ 2 w 25"/>
                <a:gd name="T3" fmla="*/ 23 h 25"/>
                <a:gd name="T4" fmla="*/ 2 w 25"/>
                <a:gd name="T5" fmla="*/ 15 h 25"/>
                <a:gd name="T6" fmla="*/ 14 w 25"/>
                <a:gd name="T7" fmla="*/ 3 h 25"/>
                <a:gd name="T8" fmla="*/ 23 w 25"/>
                <a:gd name="T9" fmla="*/ 3 h 25"/>
                <a:gd name="T10" fmla="*/ 23 w 25"/>
                <a:gd name="T11" fmla="*/ 11 h 25"/>
                <a:gd name="T12" fmla="*/ 11 w 25"/>
                <a:gd name="T13" fmla="*/ 23 h 25"/>
                <a:gd name="T14" fmla="*/ 7 w 25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5">
                  <a:moveTo>
                    <a:pt x="7" y="25"/>
                  </a:moveTo>
                  <a:cubicBezTo>
                    <a:pt x="5" y="25"/>
                    <a:pt x="4" y="24"/>
                    <a:pt x="2" y="23"/>
                  </a:cubicBezTo>
                  <a:cubicBezTo>
                    <a:pt x="0" y="21"/>
                    <a:pt x="0" y="17"/>
                    <a:pt x="2" y="1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7" y="0"/>
                    <a:pt x="21" y="0"/>
                    <a:pt x="23" y="3"/>
                  </a:cubicBezTo>
                  <a:cubicBezTo>
                    <a:pt x="25" y="5"/>
                    <a:pt x="25" y="9"/>
                    <a:pt x="23" y="1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4"/>
                    <a:pt x="8" y="25"/>
                    <a:pt x="7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106" name="Freeform 116">
            <a:extLst>
              <a:ext uri="{FF2B5EF4-FFF2-40B4-BE49-F238E27FC236}">
                <a16:creationId xmlns:a16="http://schemas.microsoft.com/office/drawing/2014/main" id="{60BAEAEB-B0D2-DCFC-D4F9-12D9FFCA07E8}"/>
              </a:ext>
            </a:extLst>
          </p:cNvPr>
          <p:cNvSpPr>
            <a:spLocks noEditPoints="1"/>
          </p:cNvSpPr>
          <p:nvPr/>
        </p:nvSpPr>
        <p:spPr bwMode="auto">
          <a:xfrm>
            <a:off x="660533" y="2446638"/>
            <a:ext cx="395293" cy="375882"/>
          </a:xfrm>
          <a:custGeom>
            <a:avLst/>
            <a:gdLst>
              <a:gd name="T0" fmla="*/ 275 w 303"/>
              <a:gd name="T1" fmla="*/ 162 h 288"/>
              <a:gd name="T2" fmla="*/ 278 w 303"/>
              <a:gd name="T3" fmla="*/ 162 h 288"/>
              <a:gd name="T4" fmla="*/ 139 w 303"/>
              <a:gd name="T5" fmla="*/ 22 h 288"/>
              <a:gd name="T6" fmla="*/ 113 w 303"/>
              <a:gd name="T7" fmla="*/ 0 h 288"/>
              <a:gd name="T8" fmla="*/ 91 w 303"/>
              <a:gd name="T9" fmla="*/ 37 h 288"/>
              <a:gd name="T10" fmla="*/ 43 w 303"/>
              <a:gd name="T11" fmla="*/ 84 h 288"/>
              <a:gd name="T12" fmla="*/ 34 w 303"/>
              <a:gd name="T13" fmla="*/ 83 h 288"/>
              <a:gd name="T14" fmla="*/ 26 w 303"/>
              <a:gd name="T15" fmla="*/ 150 h 288"/>
              <a:gd name="T16" fmla="*/ 77 w 303"/>
              <a:gd name="T17" fmla="*/ 249 h 288"/>
              <a:gd name="T18" fmla="*/ 97 w 303"/>
              <a:gd name="T19" fmla="*/ 288 h 288"/>
              <a:gd name="T20" fmla="*/ 121 w 303"/>
              <a:gd name="T21" fmla="*/ 271 h 288"/>
              <a:gd name="T22" fmla="*/ 253 w 303"/>
              <a:gd name="T23" fmla="*/ 225 h 288"/>
              <a:gd name="T24" fmla="*/ 269 w 303"/>
              <a:gd name="T25" fmla="*/ 229 h 288"/>
              <a:gd name="T26" fmla="*/ 253 w 303"/>
              <a:gd name="T27" fmla="*/ 165 h 288"/>
              <a:gd name="T28" fmla="*/ 247 w 303"/>
              <a:gd name="T29" fmla="*/ 170 h 288"/>
              <a:gd name="T30" fmla="*/ 238 w 303"/>
              <a:gd name="T31" fmla="*/ 209 h 288"/>
              <a:gd name="T32" fmla="*/ 115 w 303"/>
              <a:gd name="T33" fmla="*/ 224 h 288"/>
              <a:gd name="T34" fmla="*/ 45 w 303"/>
              <a:gd name="T35" fmla="*/ 148 h 288"/>
              <a:gd name="T36" fmla="*/ 66 w 303"/>
              <a:gd name="T37" fmla="*/ 104 h 288"/>
              <a:gd name="T38" fmla="*/ 170 w 303"/>
              <a:gd name="T39" fmla="*/ 134 h 288"/>
              <a:gd name="T40" fmla="*/ 253 w 303"/>
              <a:gd name="T41" fmla="*/ 165 h 288"/>
              <a:gd name="T42" fmla="*/ 250 w 303"/>
              <a:gd name="T43" fmla="*/ 168 h 288"/>
              <a:gd name="T44" fmla="*/ 247 w 303"/>
              <a:gd name="T45" fmla="*/ 170 h 288"/>
              <a:gd name="T46" fmla="*/ 243 w 303"/>
              <a:gd name="T47" fmla="*/ 174 h 288"/>
              <a:gd name="T48" fmla="*/ 241 w 303"/>
              <a:gd name="T49" fmla="*/ 177 h 288"/>
              <a:gd name="T50" fmla="*/ 239 w 303"/>
              <a:gd name="T51" fmla="*/ 181 h 288"/>
              <a:gd name="T52" fmla="*/ 237 w 303"/>
              <a:gd name="T53" fmla="*/ 186 h 288"/>
              <a:gd name="T54" fmla="*/ 236 w 303"/>
              <a:gd name="T55" fmla="*/ 190 h 288"/>
              <a:gd name="T56" fmla="*/ 139 w 303"/>
              <a:gd name="T57" fmla="*/ 91 h 288"/>
              <a:gd name="T58" fmla="*/ 170 w 303"/>
              <a:gd name="T59" fmla="*/ 123 h 288"/>
              <a:gd name="T60" fmla="*/ 128 w 303"/>
              <a:gd name="T61" fmla="*/ 25 h 288"/>
              <a:gd name="T62" fmla="*/ 110 w 303"/>
              <a:gd name="T63" fmla="*/ 39 h 288"/>
              <a:gd name="T64" fmla="*/ 52 w 303"/>
              <a:gd name="T65" fmla="*/ 88 h 288"/>
              <a:gd name="T66" fmla="*/ 60 w 303"/>
              <a:gd name="T67" fmla="*/ 77 h 288"/>
              <a:gd name="T68" fmla="*/ 99 w 303"/>
              <a:gd name="T69" fmla="*/ 45 h 288"/>
              <a:gd name="T70" fmla="*/ 137 w 303"/>
              <a:gd name="T71" fmla="*/ 33 h 288"/>
              <a:gd name="T72" fmla="*/ 137 w 303"/>
              <a:gd name="T73" fmla="*/ 32 h 288"/>
              <a:gd name="T74" fmla="*/ 152 w 303"/>
              <a:gd name="T75" fmla="*/ 31 h 288"/>
              <a:gd name="T76" fmla="*/ 184 w 303"/>
              <a:gd name="T77" fmla="*/ 36 h 288"/>
              <a:gd name="T78" fmla="*/ 269 w 303"/>
              <a:gd name="T79" fmla="*/ 140 h 288"/>
              <a:gd name="T80" fmla="*/ 269 w 303"/>
              <a:gd name="T81" fmla="*/ 148 h 288"/>
              <a:gd name="T82" fmla="*/ 213 w 303"/>
              <a:gd name="T83" fmla="*/ 91 h 288"/>
              <a:gd name="T84" fmla="*/ 60 w 303"/>
              <a:gd name="T85" fmla="*/ 94 h 288"/>
              <a:gd name="T86" fmla="*/ 59 w 303"/>
              <a:gd name="T87" fmla="*/ 94 h 288"/>
              <a:gd name="T88" fmla="*/ 52 w 303"/>
              <a:gd name="T89" fmla="*/ 88 h 288"/>
              <a:gd name="T90" fmla="*/ 47 w 303"/>
              <a:gd name="T91" fmla="*/ 97 h 288"/>
              <a:gd name="T92" fmla="*/ 34 w 303"/>
              <a:gd name="T93" fmla="*/ 140 h 288"/>
              <a:gd name="T94" fmla="*/ 83 w 303"/>
              <a:gd name="T95" fmla="*/ 263 h 288"/>
              <a:gd name="T96" fmla="*/ 109 w 303"/>
              <a:gd name="T97" fmla="*/ 255 h 288"/>
              <a:gd name="T98" fmla="*/ 97 w 303"/>
              <a:gd name="T99" fmla="*/ 278 h 288"/>
              <a:gd name="T100" fmla="*/ 122 w 303"/>
              <a:gd name="T101" fmla="*/ 261 h 288"/>
              <a:gd name="T102" fmla="*/ 121 w 303"/>
              <a:gd name="T103" fmla="*/ 260 h 288"/>
              <a:gd name="T104" fmla="*/ 84 w 303"/>
              <a:gd name="T105" fmla="*/ 242 h 288"/>
              <a:gd name="T106" fmla="*/ 56 w 303"/>
              <a:gd name="T107" fmla="*/ 213 h 288"/>
              <a:gd name="T108" fmla="*/ 38 w 303"/>
              <a:gd name="T109" fmla="*/ 165 h 288"/>
              <a:gd name="T110" fmla="*/ 112 w 303"/>
              <a:gd name="T111" fmla="*/ 233 h 288"/>
              <a:gd name="T112" fmla="*/ 243 w 303"/>
              <a:gd name="T113" fmla="*/ 218 h 288"/>
              <a:gd name="T114" fmla="*/ 245 w 303"/>
              <a:gd name="T115" fmla="*/ 219 h 288"/>
              <a:gd name="T116" fmla="*/ 246 w 303"/>
              <a:gd name="T117" fmla="*/ 195 h 288"/>
              <a:gd name="T118" fmla="*/ 270 w 303"/>
              <a:gd name="T119" fmla="*/ 219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3" h="288">
                <a:moveTo>
                  <a:pt x="279" y="163"/>
                </a:moveTo>
                <a:cubicBezTo>
                  <a:pt x="279" y="163"/>
                  <a:pt x="279" y="163"/>
                  <a:pt x="279" y="163"/>
                </a:cubicBezTo>
                <a:cubicBezTo>
                  <a:pt x="278" y="162"/>
                  <a:pt x="277" y="162"/>
                  <a:pt x="275" y="162"/>
                </a:cubicBezTo>
                <a:cubicBezTo>
                  <a:pt x="277" y="162"/>
                  <a:pt x="278" y="162"/>
                  <a:pt x="279" y="163"/>
                </a:cubicBezTo>
                <a:cubicBezTo>
                  <a:pt x="278" y="162"/>
                  <a:pt x="278" y="162"/>
                  <a:pt x="278" y="162"/>
                </a:cubicBezTo>
                <a:cubicBezTo>
                  <a:pt x="278" y="162"/>
                  <a:pt x="278" y="162"/>
                  <a:pt x="278" y="162"/>
                </a:cubicBezTo>
                <a:cubicBezTo>
                  <a:pt x="279" y="157"/>
                  <a:pt x="279" y="152"/>
                  <a:pt x="279" y="148"/>
                </a:cubicBezTo>
                <a:cubicBezTo>
                  <a:pt x="279" y="78"/>
                  <a:pt x="223" y="21"/>
                  <a:pt x="153" y="21"/>
                </a:cubicBezTo>
                <a:cubicBezTo>
                  <a:pt x="148" y="21"/>
                  <a:pt x="144" y="21"/>
                  <a:pt x="139" y="22"/>
                </a:cubicBezTo>
                <a:cubicBezTo>
                  <a:pt x="139" y="22"/>
                  <a:pt x="139" y="22"/>
                  <a:pt x="139" y="22"/>
                </a:cubicBezTo>
                <a:cubicBezTo>
                  <a:pt x="138" y="21"/>
                  <a:pt x="138" y="21"/>
                  <a:pt x="138" y="21"/>
                </a:cubicBezTo>
                <a:cubicBezTo>
                  <a:pt x="136" y="9"/>
                  <a:pt x="125" y="0"/>
                  <a:pt x="113" y="0"/>
                </a:cubicBezTo>
                <a:cubicBezTo>
                  <a:pt x="100" y="0"/>
                  <a:pt x="88" y="11"/>
                  <a:pt x="88" y="25"/>
                </a:cubicBezTo>
                <a:cubicBezTo>
                  <a:pt x="88" y="29"/>
                  <a:pt x="89" y="33"/>
                  <a:pt x="91" y="36"/>
                </a:cubicBezTo>
                <a:cubicBezTo>
                  <a:pt x="91" y="37"/>
                  <a:pt x="91" y="37"/>
                  <a:pt x="91" y="37"/>
                </a:cubicBezTo>
                <a:cubicBezTo>
                  <a:pt x="91" y="37"/>
                  <a:pt x="91" y="37"/>
                  <a:pt x="91" y="37"/>
                </a:cubicBezTo>
                <a:cubicBezTo>
                  <a:pt x="71" y="48"/>
                  <a:pt x="55" y="64"/>
                  <a:pt x="44" y="83"/>
                </a:cubicBezTo>
                <a:cubicBezTo>
                  <a:pt x="43" y="84"/>
                  <a:pt x="43" y="84"/>
                  <a:pt x="43" y="84"/>
                </a:cubicBezTo>
                <a:cubicBezTo>
                  <a:pt x="43" y="84"/>
                  <a:pt x="43" y="84"/>
                  <a:pt x="43" y="84"/>
                </a:cubicBezTo>
                <a:cubicBezTo>
                  <a:pt x="41" y="84"/>
                  <a:pt x="39" y="83"/>
                  <a:pt x="38" y="83"/>
                </a:cubicBezTo>
                <a:cubicBezTo>
                  <a:pt x="37" y="83"/>
                  <a:pt x="36" y="83"/>
                  <a:pt x="34" y="83"/>
                </a:cubicBezTo>
                <a:cubicBezTo>
                  <a:pt x="15" y="83"/>
                  <a:pt x="0" y="98"/>
                  <a:pt x="0" y="117"/>
                </a:cubicBezTo>
                <a:cubicBezTo>
                  <a:pt x="0" y="132"/>
                  <a:pt x="11" y="146"/>
                  <a:pt x="25" y="150"/>
                </a:cubicBezTo>
                <a:cubicBezTo>
                  <a:pt x="26" y="150"/>
                  <a:pt x="26" y="150"/>
                  <a:pt x="26" y="150"/>
                </a:cubicBezTo>
                <a:cubicBezTo>
                  <a:pt x="26" y="151"/>
                  <a:pt x="26" y="151"/>
                  <a:pt x="26" y="151"/>
                </a:cubicBezTo>
                <a:cubicBezTo>
                  <a:pt x="27" y="189"/>
                  <a:pt x="45" y="226"/>
                  <a:pt x="76" y="249"/>
                </a:cubicBezTo>
                <a:cubicBezTo>
                  <a:pt x="77" y="249"/>
                  <a:pt x="77" y="249"/>
                  <a:pt x="77" y="249"/>
                </a:cubicBezTo>
                <a:cubicBezTo>
                  <a:pt x="76" y="250"/>
                  <a:pt x="76" y="250"/>
                  <a:pt x="76" y="250"/>
                </a:cubicBezTo>
                <a:cubicBezTo>
                  <a:pt x="73" y="255"/>
                  <a:pt x="72" y="259"/>
                  <a:pt x="72" y="263"/>
                </a:cubicBezTo>
                <a:cubicBezTo>
                  <a:pt x="72" y="278"/>
                  <a:pt x="83" y="288"/>
                  <a:pt x="97" y="288"/>
                </a:cubicBezTo>
                <a:cubicBezTo>
                  <a:pt x="108" y="288"/>
                  <a:pt x="117" y="282"/>
                  <a:pt x="120" y="272"/>
                </a:cubicBezTo>
                <a:cubicBezTo>
                  <a:pt x="121" y="271"/>
                  <a:pt x="121" y="271"/>
                  <a:pt x="121" y="271"/>
                </a:cubicBezTo>
                <a:cubicBezTo>
                  <a:pt x="121" y="271"/>
                  <a:pt x="121" y="271"/>
                  <a:pt x="121" y="271"/>
                </a:cubicBezTo>
                <a:cubicBezTo>
                  <a:pt x="131" y="273"/>
                  <a:pt x="141" y="275"/>
                  <a:pt x="153" y="275"/>
                </a:cubicBezTo>
                <a:cubicBezTo>
                  <a:pt x="191" y="275"/>
                  <a:pt x="228" y="257"/>
                  <a:pt x="253" y="226"/>
                </a:cubicBezTo>
                <a:cubicBezTo>
                  <a:pt x="253" y="225"/>
                  <a:pt x="253" y="225"/>
                  <a:pt x="253" y="225"/>
                </a:cubicBezTo>
                <a:cubicBezTo>
                  <a:pt x="254" y="226"/>
                  <a:pt x="254" y="226"/>
                  <a:pt x="254" y="226"/>
                </a:cubicBezTo>
                <a:cubicBezTo>
                  <a:pt x="256" y="227"/>
                  <a:pt x="259" y="228"/>
                  <a:pt x="262" y="228"/>
                </a:cubicBezTo>
                <a:cubicBezTo>
                  <a:pt x="265" y="229"/>
                  <a:pt x="267" y="229"/>
                  <a:pt x="269" y="229"/>
                </a:cubicBezTo>
                <a:cubicBezTo>
                  <a:pt x="288" y="229"/>
                  <a:pt x="303" y="214"/>
                  <a:pt x="303" y="195"/>
                </a:cubicBezTo>
                <a:cubicBezTo>
                  <a:pt x="303" y="180"/>
                  <a:pt x="293" y="167"/>
                  <a:pt x="279" y="163"/>
                </a:cubicBezTo>
                <a:close/>
                <a:moveTo>
                  <a:pt x="253" y="165"/>
                </a:moveTo>
                <a:cubicBezTo>
                  <a:pt x="252" y="166"/>
                  <a:pt x="251" y="167"/>
                  <a:pt x="250" y="167"/>
                </a:cubicBezTo>
                <a:cubicBezTo>
                  <a:pt x="250" y="168"/>
                  <a:pt x="249" y="168"/>
                  <a:pt x="249" y="169"/>
                </a:cubicBezTo>
                <a:cubicBezTo>
                  <a:pt x="248" y="169"/>
                  <a:pt x="248" y="169"/>
                  <a:pt x="247" y="170"/>
                </a:cubicBezTo>
                <a:cubicBezTo>
                  <a:pt x="240" y="176"/>
                  <a:pt x="235" y="185"/>
                  <a:pt x="235" y="195"/>
                </a:cubicBezTo>
                <a:cubicBezTo>
                  <a:pt x="235" y="200"/>
                  <a:pt x="236" y="204"/>
                  <a:pt x="238" y="208"/>
                </a:cubicBezTo>
                <a:cubicBezTo>
                  <a:pt x="238" y="209"/>
                  <a:pt x="238" y="209"/>
                  <a:pt x="238" y="209"/>
                </a:cubicBezTo>
                <a:cubicBezTo>
                  <a:pt x="238" y="209"/>
                  <a:pt x="238" y="209"/>
                  <a:pt x="238" y="209"/>
                </a:cubicBezTo>
                <a:cubicBezTo>
                  <a:pt x="219" y="219"/>
                  <a:pt x="191" y="231"/>
                  <a:pt x="158" y="231"/>
                </a:cubicBezTo>
                <a:cubicBezTo>
                  <a:pt x="143" y="231"/>
                  <a:pt x="129" y="229"/>
                  <a:pt x="115" y="224"/>
                </a:cubicBezTo>
                <a:cubicBezTo>
                  <a:pt x="61" y="204"/>
                  <a:pt x="48" y="165"/>
                  <a:pt x="46" y="149"/>
                </a:cubicBezTo>
                <a:cubicBezTo>
                  <a:pt x="46" y="149"/>
                  <a:pt x="46" y="149"/>
                  <a:pt x="46" y="149"/>
                </a:cubicBezTo>
                <a:cubicBezTo>
                  <a:pt x="45" y="148"/>
                  <a:pt x="45" y="148"/>
                  <a:pt x="45" y="148"/>
                </a:cubicBezTo>
                <a:cubicBezTo>
                  <a:pt x="46" y="148"/>
                  <a:pt x="46" y="148"/>
                  <a:pt x="46" y="148"/>
                </a:cubicBezTo>
                <a:cubicBezTo>
                  <a:pt x="59" y="143"/>
                  <a:pt x="68" y="131"/>
                  <a:pt x="68" y="117"/>
                </a:cubicBezTo>
                <a:cubicBezTo>
                  <a:pt x="68" y="113"/>
                  <a:pt x="67" y="108"/>
                  <a:pt x="66" y="104"/>
                </a:cubicBezTo>
                <a:cubicBezTo>
                  <a:pt x="76" y="99"/>
                  <a:pt x="99" y="88"/>
                  <a:pt x="128" y="86"/>
                </a:cubicBezTo>
                <a:cubicBezTo>
                  <a:pt x="127" y="88"/>
                  <a:pt x="127" y="90"/>
                  <a:pt x="127" y="91"/>
                </a:cubicBezTo>
                <a:cubicBezTo>
                  <a:pt x="127" y="115"/>
                  <a:pt x="146" y="134"/>
                  <a:pt x="170" y="134"/>
                </a:cubicBezTo>
                <a:cubicBezTo>
                  <a:pt x="188" y="134"/>
                  <a:pt x="203" y="124"/>
                  <a:pt x="209" y="109"/>
                </a:cubicBezTo>
                <a:cubicBezTo>
                  <a:pt x="228" y="122"/>
                  <a:pt x="245" y="140"/>
                  <a:pt x="261" y="162"/>
                </a:cubicBezTo>
                <a:cubicBezTo>
                  <a:pt x="258" y="163"/>
                  <a:pt x="256" y="164"/>
                  <a:pt x="253" y="165"/>
                </a:cubicBezTo>
                <a:cubicBezTo>
                  <a:pt x="253" y="165"/>
                  <a:pt x="253" y="165"/>
                  <a:pt x="253" y="165"/>
                </a:cubicBezTo>
                <a:cubicBezTo>
                  <a:pt x="253" y="165"/>
                  <a:pt x="253" y="165"/>
                  <a:pt x="253" y="165"/>
                </a:cubicBezTo>
                <a:close/>
                <a:moveTo>
                  <a:pt x="250" y="168"/>
                </a:moveTo>
                <a:cubicBezTo>
                  <a:pt x="250" y="168"/>
                  <a:pt x="249" y="168"/>
                  <a:pt x="249" y="168"/>
                </a:cubicBezTo>
                <a:cubicBezTo>
                  <a:pt x="249" y="168"/>
                  <a:pt x="250" y="168"/>
                  <a:pt x="250" y="168"/>
                </a:cubicBezTo>
                <a:close/>
                <a:moveTo>
                  <a:pt x="247" y="170"/>
                </a:moveTo>
                <a:cubicBezTo>
                  <a:pt x="246" y="170"/>
                  <a:pt x="246" y="171"/>
                  <a:pt x="246" y="171"/>
                </a:cubicBezTo>
                <a:cubicBezTo>
                  <a:pt x="246" y="171"/>
                  <a:pt x="246" y="170"/>
                  <a:pt x="247" y="170"/>
                </a:cubicBezTo>
                <a:close/>
                <a:moveTo>
                  <a:pt x="243" y="174"/>
                </a:moveTo>
                <a:cubicBezTo>
                  <a:pt x="243" y="174"/>
                  <a:pt x="243" y="174"/>
                  <a:pt x="243" y="174"/>
                </a:cubicBezTo>
                <a:cubicBezTo>
                  <a:pt x="243" y="174"/>
                  <a:pt x="243" y="174"/>
                  <a:pt x="243" y="174"/>
                </a:cubicBezTo>
                <a:close/>
                <a:moveTo>
                  <a:pt x="241" y="177"/>
                </a:moveTo>
                <a:cubicBezTo>
                  <a:pt x="241" y="178"/>
                  <a:pt x="240" y="178"/>
                  <a:pt x="240" y="178"/>
                </a:cubicBezTo>
                <a:cubicBezTo>
                  <a:pt x="240" y="178"/>
                  <a:pt x="241" y="178"/>
                  <a:pt x="241" y="177"/>
                </a:cubicBezTo>
                <a:close/>
                <a:moveTo>
                  <a:pt x="239" y="181"/>
                </a:moveTo>
                <a:cubicBezTo>
                  <a:pt x="239" y="181"/>
                  <a:pt x="238" y="182"/>
                  <a:pt x="238" y="182"/>
                </a:cubicBezTo>
                <a:cubicBezTo>
                  <a:pt x="238" y="182"/>
                  <a:pt x="239" y="181"/>
                  <a:pt x="239" y="181"/>
                </a:cubicBezTo>
                <a:close/>
                <a:moveTo>
                  <a:pt x="237" y="186"/>
                </a:moveTo>
                <a:cubicBezTo>
                  <a:pt x="237" y="186"/>
                  <a:pt x="237" y="186"/>
                  <a:pt x="237" y="187"/>
                </a:cubicBezTo>
                <a:cubicBezTo>
                  <a:pt x="237" y="186"/>
                  <a:pt x="237" y="186"/>
                  <a:pt x="237" y="186"/>
                </a:cubicBezTo>
                <a:close/>
                <a:moveTo>
                  <a:pt x="236" y="190"/>
                </a:moveTo>
                <a:cubicBezTo>
                  <a:pt x="236" y="190"/>
                  <a:pt x="236" y="191"/>
                  <a:pt x="236" y="191"/>
                </a:cubicBezTo>
                <a:cubicBezTo>
                  <a:pt x="236" y="191"/>
                  <a:pt x="236" y="190"/>
                  <a:pt x="236" y="190"/>
                </a:cubicBezTo>
                <a:close/>
                <a:moveTo>
                  <a:pt x="139" y="91"/>
                </a:moveTo>
                <a:cubicBezTo>
                  <a:pt x="139" y="74"/>
                  <a:pt x="153" y="60"/>
                  <a:pt x="170" y="60"/>
                </a:cubicBezTo>
                <a:cubicBezTo>
                  <a:pt x="187" y="60"/>
                  <a:pt x="201" y="74"/>
                  <a:pt x="201" y="91"/>
                </a:cubicBezTo>
                <a:cubicBezTo>
                  <a:pt x="201" y="109"/>
                  <a:pt x="187" y="123"/>
                  <a:pt x="170" y="123"/>
                </a:cubicBezTo>
                <a:cubicBezTo>
                  <a:pt x="153" y="123"/>
                  <a:pt x="139" y="109"/>
                  <a:pt x="139" y="91"/>
                </a:cubicBezTo>
                <a:close/>
                <a:moveTo>
                  <a:pt x="113" y="11"/>
                </a:moveTo>
                <a:cubicBezTo>
                  <a:pt x="122" y="11"/>
                  <a:pt x="128" y="17"/>
                  <a:pt x="128" y="25"/>
                </a:cubicBezTo>
                <a:cubicBezTo>
                  <a:pt x="128" y="28"/>
                  <a:pt x="127" y="32"/>
                  <a:pt x="124" y="35"/>
                </a:cubicBezTo>
                <a:cubicBezTo>
                  <a:pt x="122" y="38"/>
                  <a:pt x="118" y="40"/>
                  <a:pt x="113" y="40"/>
                </a:cubicBezTo>
                <a:cubicBezTo>
                  <a:pt x="112" y="40"/>
                  <a:pt x="111" y="40"/>
                  <a:pt x="110" y="39"/>
                </a:cubicBezTo>
                <a:cubicBezTo>
                  <a:pt x="103" y="38"/>
                  <a:pt x="99" y="31"/>
                  <a:pt x="99" y="25"/>
                </a:cubicBezTo>
                <a:cubicBezTo>
                  <a:pt x="99" y="17"/>
                  <a:pt x="105" y="11"/>
                  <a:pt x="113" y="11"/>
                </a:cubicBezTo>
                <a:close/>
                <a:moveTo>
                  <a:pt x="52" y="88"/>
                </a:moveTo>
                <a:cubicBezTo>
                  <a:pt x="53" y="87"/>
                  <a:pt x="53" y="87"/>
                  <a:pt x="53" y="87"/>
                </a:cubicBezTo>
                <a:cubicBezTo>
                  <a:pt x="55" y="84"/>
                  <a:pt x="57" y="81"/>
                  <a:pt x="59" y="78"/>
                </a:cubicBezTo>
                <a:cubicBezTo>
                  <a:pt x="59" y="78"/>
                  <a:pt x="60" y="78"/>
                  <a:pt x="60" y="77"/>
                </a:cubicBezTo>
                <a:cubicBezTo>
                  <a:pt x="61" y="76"/>
                  <a:pt x="62" y="75"/>
                  <a:pt x="62" y="74"/>
                </a:cubicBezTo>
                <a:cubicBezTo>
                  <a:pt x="72" y="62"/>
                  <a:pt x="85" y="52"/>
                  <a:pt x="98" y="45"/>
                </a:cubicBezTo>
                <a:cubicBezTo>
                  <a:pt x="99" y="45"/>
                  <a:pt x="99" y="45"/>
                  <a:pt x="99" y="45"/>
                </a:cubicBezTo>
                <a:cubicBezTo>
                  <a:pt x="99" y="45"/>
                  <a:pt x="99" y="45"/>
                  <a:pt x="99" y="45"/>
                </a:cubicBezTo>
                <a:cubicBezTo>
                  <a:pt x="103" y="48"/>
                  <a:pt x="109" y="50"/>
                  <a:pt x="113" y="50"/>
                </a:cubicBezTo>
                <a:cubicBezTo>
                  <a:pt x="124" y="50"/>
                  <a:pt x="133" y="43"/>
                  <a:pt x="137" y="33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42" y="31"/>
                  <a:pt x="147" y="31"/>
                  <a:pt x="152" y="31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3" y="31"/>
                  <a:pt x="153" y="31"/>
                  <a:pt x="153" y="31"/>
                </a:cubicBezTo>
                <a:cubicBezTo>
                  <a:pt x="163" y="31"/>
                  <a:pt x="172" y="32"/>
                  <a:pt x="181" y="35"/>
                </a:cubicBezTo>
                <a:cubicBezTo>
                  <a:pt x="182" y="35"/>
                  <a:pt x="183" y="35"/>
                  <a:pt x="184" y="36"/>
                </a:cubicBezTo>
                <a:cubicBezTo>
                  <a:pt x="185" y="36"/>
                  <a:pt x="185" y="36"/>
                  <a:pt x="186" y="36"/>
                </a:cubicBezTo>
                <a:cubicBezTo>
                  <a:pt x="224" y="48"/>
                  <a:pt x="254" y="78"/>
                  <a:pt x="265" y="117"/>
                </a:cubicBezTo>
                <a:cubicBezTo>
                  <a:pt x="267" y="124"/>
                  <a:pt x="268" y="132"/>
                  <a:pt x="269" y="140"/>
                </a:cubicBezTo>
                <a:cubicBezTo>
                  <a:pt x="269" y="142"/>
                  <a:pt x="269" y="143"/>
                  <a:pt x="269" y="145"/>
                </a:cubicBezTo>
                <a:cubicBezTo>
                  <a:pt x="269" y="148"/>
                  <a:pt x="269" y="148"/>
                  <a:pt x="269" y="148"/>
                </a:cubicBezTo>
                <a:cubicBezTo>
                  <a:pt x="269" y="148"/>
                  <a:pt x="269" y="148"/>
                  <a:pt x="269" y="148"/>
                </a:cubicBezTo>
                <a:cubicBezTo>
                  <a:pt x="269" y="150"/>
                  <a:pt x="269" y="151"/>
                  <a:pt x="269" y="153"/>
                </a:cubicBezTo>
                <a:cubicBezTo>
                  <a:pt x="252" y="129"/>
                  <a:pt x="233" y="111"/>
                  <a:pt x="213" y="97"/>
                </a:cubicBezTo>
                <a:cubicBezTo>
                  <a:pt x="213" y="95"/>
                  <a:pt x="213" y="93"/>
                  <a:pt x="213" y="91"/>
                </a:cubicBezTo>
                <a:cubicBezTo>
                  <a:pt x="213" y="68"/>
                  <a:pt x="194" y="48"/>
                  <a:pt x="170" y="48"/>
                </a:cubicBezTo>
                <a:cubicBezTo>
                  <a:pt x="153" y="48"/>
                  <a:pt x="137" y="59"/>
                  <a:pt x="131" y="74"/>
                </a:cubicBezTo>
                <a:cubicBezTo>
                  <a:pt x="97" y="75"/>
                  <a:pt x="71" y="88"/>
                  <a:pt x="60" y="94"/>
                </a:cubicBezTo>
                <a:cubicBezTo>
                  <a:pt x="60" y="94"/>
                  <a:pt x="60" y="94"/>
                  <a:pt x="59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57" y="92"/>
                  <a:pt x="56" y="91"/>
                  <a:pt x="54" y="89"/>
                </a:cubicBezTo>
                <a:cubicBezTo>
                  <a:pt x="52" y="88"/>
                  <a:pt x="52" y="88"/>
                  <a:pt x="52" y="88"/>
                </a:cubicBezTo>
                <a:cubicBezTo>
                  <a:pt x="52" y="88"/>
                  <a:pt x="52" y="88"/>
                  <a:pt x="52" y="88"/>
                </a:cubicBezTo>
                <a:close/>
                <a:moveTo>
                  <a:pt x="10" y="117"/>
                </a:moveTo>
                <a:cubicBezTo>
                  <a:pt x="10" y="104"/>
                  <a:pt x="21" y="93"/>
                  <a:pt x="34" y="93"/>
                </a:cubicBezTo>
                <a:cubicBezTo>
                  <a:pt x="39" y="93"/>
                  <a:pt x="44" y="95"/>
                  <a:pt x="47" y="97"/>
                </a:cubicBezTo>
                <a:cubicBezTo>
                  <a:pt x="54" y="102"/>
                  <a:pt x="58" y="109"/>
                  <a:pt x="58" y="117"/>
                </a:cubicBezTo>
                <a:cubicBezTo>
                  <a:pt x="58" y="129"/>
                  <a:pt x="48" y="139"/>
                  <a:pt x="36" y="140"/>
                </a:cubicBezTo>
                <a:cubicBezTo>
                  <a:pt x="36" y="140"/>
                  <a:pt x="35" y="140"/>
                  <a:pt x="34" y="140"/>
                </a:cubicBezTo>
                <a:cubicBezTo>
                  <a:pt x="21" y="140"/>
                  <a:pt x="10" y="130"/>
                  <a:pt x="10" y="117"/>
                </a:cubicBezTo>
                <a:close/>
                <a:moveTo>
                  <a:pt x="97" y="278"/>
                </a:moveTo>
                <a:cubicBezTo>
                  <a:pt x="89" y="278"/>
                  <a:pt x="83" y="271"/>
                  <a:pt x="83" y="263"/>
                </a:cubicBezTo>
                <a:cubicBezTo>
                  <a:pt x="83" y="256"/>
                  <a:pt x="89" y="250"/>
                  <a:pt x="96" y="250"/>
                </a:cubicBezTo>
                <a:cubicBezTo>
                  <a:pt x="97" y="250"/>
                  <a:pt x="97" y="250"/>
                  <a:pt x="97" y="250"/>
                </a:cubicBezTo>
                <a:cubicBezTo>
                  <a:pt x="102" y="250"/>
                  <a:pt x="106" y="252"/>
                  <a:pt x="109" y="255"/>
                </a:cubicBezTo>
                <a:cubicBezTo>
                  <a:pt x="110" y="258"/>
                  <a:pt x="111" y="260"/>
                  <a:pt x="112" y="263"/>
                </a:cubicBezTo>
                <a:cubicBezTo>
                  <a:pt x="112" y="265"/>
                  <a:pt x="112" y="265"/>
                  <a:pt x="112" y="265"/>
                </a:cubicBezTo>
                <a:cubicBezTo>
                  <a:pt x="111" y="272"/>
                  <a:pt x="104" y="278"/>
                  <a:pt x="97" y="278"/>
                </a:cubicBezTo>
                <a:close/>
                <a:moveTo>
                  <a:pt x="245" y="219"/>
                </a:moveTo>
                <a:cubicBezTo>
                  <a:pt x="222" y="248"/>
                  <a:pt x="189" y="264"/>
                  <a:pt x="153" y="264"/>
                </a:cubicBezTo>
                <a:cubicBezTo>
                  <a:pt x="141" y="264"/>
                  <a:pt x="131" y="263"/>
                  <a:pt x="122" y="261"/>
                </a:cubicBezTo>
                <a:cubicBezTo>
                  <a:pt x="121" y="261"/>
                  <a:pt x="121" y="261"/>
                  <a:pt x="121" y="261"/>
                </a:cubicBezTo>
                <a:cubicBezTo>
                  <a:pt x="121" y="260"/>
                  <a:pt x="121" y="260"/>
                  <a:pt x="121" y="260"/>
                </a:cubicBezTo>
                <a:cubicBezTo>
                  <a:pt x="121" y="260"/>
                  <a:pt x="121" y="260"/>
                  <a:pt x="121" y="260"/>
                </a:cubicBezTo>
                <a:cubicBezTo>
                  <a:pt x="119" y="248"/>
                  <a:pt x="110" y="239"/>
                  <a:pt x="97" y="239"/>
                </a:cubicBezTo>
                <a:cubicBezTo>
                  <a:pt x="93" y="239"/>
                  <a:pt x="89" y="240"/>
                  <a:pt x="85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73" y="234"/>
                  <a:pt x="63" y="224"/>
                  <a:pt x="56" y="213"/>
                </a:cubicBezTo>
                <a:cubicBezTo>
                  <a:pt x="55" y="211"/>
                  <a:pt x="54" y="209"/>
                  <a:pt x="52" y="207"/>
                </a:cubicBezTo>
                <a:cubicBezTo>
                  <a:pt x="45" y="195"/>
                  <a:pt x="40" y="181"/>
                  <a:pt x="38" y="166"/>
                </a:cubicBezTo>
                <a:cubicBezTo>
                  <a:pt x="38" y="165"/>
                  <a:pt x="38" y="165"/>
                  <a:pt x="38" y="165"/>
                </a:cubicBezTo>
                <a:cubicBezTo>
                  <a:pt x="39" y="165"/>
                  <a:pt x="39" y="165"/>
                  <a:pt x="39" y="165"/>
                </a:cubicBezTo>
                <a:cubicBezTo>
                  <a:pt x="40" y="166"/>
                  <a:pt x="40" y="166"/>
                  <a:pt x="40" y="166"/>
                </a:cubicBezTo>
                <a:cubicBezTo>
                  <a:pt x="45" y="183"/>
                  <a:pt x="62" y="216"/>
                  <a:pt x="112" y="233"/>
                </a:cubicBezTo>
                <a:cubicBezTo>
                  <a:pt x="126" y="238"/>
                  <a:pt x="141" y="241"/>
                  <a:pt x="159" y="241"/>
                </a:cubicBezTo>
                <a:cubicBezTo>
                  <a:pt x="197" y="241"/>
                  <a:pt x="228" y="227"/>
                  <a:pt x="243" y="218"/>
                </a:cubicBezTo>
                <a:cubicBezTo>
                  <a:pt x="243" y="218"/>
                  <a:pt x="243" y="218"/>
                  <a:pt x="243" y="218"/>
                </a:cubicBezTo>
                <a:cubicBezTo>
                  <a:pt x="244" y="218"/>
                  <a:pt x="244" y="218"/>
                  <a:pt x="244" y="218"/>
                </a:cubicBezTo>
                <a:cubicBezTo>
                  <a:pt x="246" y="218"/>
                  <a:pt x="246" y="218"/>
                  <a:pt x="246" y="218"/>
                </a:cubicBezTo>
                <a:cubicBezTo>
                  <a:pt x="245" y="219"/>
                  <a:pt x="245" y="219"/>
                  <a:pt x="245" y="219"/>
                </a:cubicBezTo>
                <a:close/>
                <a:moveTo>
                  <a:pt x="270" y="219"/>
                </a:moveTo>
                <a:cubicBezTo>
                  <a:pt x="269" y="219"/>
                  <a:pt x="269" y="219"/>
                  <a:pt x="269" y="219"/>
                </a:cubicBezTo>
                <a:cubicBezTo>
                  <a:pt x="256" y="219"/>
                  <a:pt x="246" y="208"/>
                  <a:pt x="246" y="195"/>
                </a:cubicBezTo>
                <a:cubicBezTo>
                  <a:pt x="246" y="182"/>
                  <a:pt x="256" y="171"/>
                  <a:pt x="269" y="171"/>
                </a:cubicBezTo>
                <a:cubicBezTo>
                  <a:pt x="282" y="171"/>
                  <a:pt x="293" y="182"/>
                  <a:pt x="293" y="195"/>
                </a:cubicBezTo>
                <a:cubicBezTo>
                  <a:pt x="293" y="208"/>
                  <a:pt x="282" y="219"/>
                  <a:pt x="270" y="21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Medium"/>
              <a:ea typeface="+mn-ea"/>
              <a:cs typeface="Arial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F3426E-5556-6D2E-41B8-4B1AAC80C37C}"/>
              </a:ext>
            </a:extLst>
          </p:cNvPr>
          <p:cNvSpPr/>
          <p:nvPr/>
        </p:nvSpPr>
        <p:spPr>
          <a:xfrm>
            <a:off x="6989736" y="5871080"/>
            <a:ext cx="860135" cy="281301"/>
          </a:xfrm>
          <a:prstGeom prst="roundRect">
            <a:avLst>
              <a:gd name="adj" fmla="val 9443"/>
            </a:avLst>
          </a:prstGeom>
          <a:solidFill>
            <a:srgbClr val="FFFFFF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Slide 12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224955-1804-3E46-816A-DE2798DACEA3}"/>
              </a:ext>
            </a:extLst>
          </p:cNvPr>
          <p:cNvSpPr/>
          <p:nvPr/>
        </p:nvSpPr>
        <p:spPr>
          <a:xfrm>
            <a:off x="10456528" y="5871080"/>
            <a:ext cx="860135" cy="281301"/>
          </a:xfrm>
          <a:prstGeom prst="roundRect">
            <a:avLst>
              <a:gd name="adj" fmla="val 9443"/>
            </a:avLst>
          </a:prstGeom>
          <a:solidFill>
            <a:srgbClr val="FFFFFF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Slides 13-14</a:t>
            </a:r>
          </a:p>
        </p:txBody>
      </p:sp>
    </p:spTree>
    <p:extLst>
      <p:ext uri="{BB962C8B-B14F-4D97-AF65-F5344CB8AC3E}">
        <p14:creationId xmlns:p14="http://schemas.microsoft.com/office/powerpoint/2010/main" val="366902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03FE-8E69-AE8C-0768-9E8A0190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42186CF3-0B26-4D13-D058-217EFE69CE7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186CF3-0B26-4D13-D058-217EFE69CE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" name="Rectangle: Rounded Corners 509">
            <a:extLst>
              <a:ext uri="{FF2B5EF4-FFF2-40B4-BE49-F238E27FC236}">
                <a16:creationId xmlns:a16="http://schemas.microsoft.com/office/drawing/2014/main" id="{D8DC5B7A-8C4B-6723-6479-FCC6996EAEA4}"/>
              </a:ext>
            </a:extLst>
          </p:cNvPr>
          <p:cNvSpPr/>
          <p:nvPr/>
        </p:nvSpPr>
        <p:spPr>
          <a:xfrm>
            <a:off x="9155430" y="5202325"/>
            <a:ext cx="811530" cy="663088"/>
          </a:xfrm>
          <a:prstGeom prst="roundRect">
            <a:avLst>
              <a:gd name="adj" fmla="val 96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7" name="Google Shape;10;p1">
            <a:extLst>
              <a:ext uri="{FF2B5EF4-FFF2-40B4-BE49-F238E27FC236}">
                <a16:creationId xmlns:a16="http://schemas.microsoft.com/office/drawing/2014/main" id="{354CB8F9-D72D-852C-5A4B-E827A615DA43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265065" y="6443654"/>
            <a:ext cx="471715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800" b="0" i="0" u="none" strike="noStrike" kern="1200" cap="none">
                <a:solidFill>
                  <a:schemeClr val="bg1">
                    <a:lumMod val="65000"/>
                  </a:schemeClr>
                </a:solidFill>
                <a:latin typeface="Graphik" panose="020B0503030202060203" pitchFamily="34" charset="0"/>
                <a:ea typeface="Graphik" panose="020B0503030202060203" pitchFamily="34" charset="0"/>
                <a:cs typeface="Arial"/>
                <a:sym typeface="Arial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700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Graphik" panose="020B0503030202060203" pitchFamily="34" charset="0"/>
              <a:cs typeface="Arial"/>
              <a:sym typeface="Arial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965863F7-C5FB-F95C-067B-CC225AD2A1F0}"/>
              </a:ext>
            </a:extLst>
          </p:cNvPr>
          <p:cNvSpPr txBox="1">
            <a:spLocks/>
          </p:cNvSpPr>
          <p:nvPr/>
        </p:nvSpPr>
        <p:spPr>
          <a:xfrm>
            <a:off x="514349" y="604818"/>
            <a:ext cx="10630969" cy="3600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418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0" i="0" u="none" strike="noStrike" cap="none" spc="-120" normalizeH="0" baseline="0">
                <a:ln>
                  <a:noFill/>
                </a:ln>
                <a:effectLst/>
                <a:uLnTx/>
                <a:uFillTx/>
                <a:latin typeface="Graphik Semibold"/>
                <a:ea typeface="+mj-ea"/>
                <a:cs typeface="+mj-cs"/>
              </a:defRPr>
            </a:lvl1pPr>
          </a:lstStyle>
          <a:p>
            <a:pPr marL="0" marR="0" lvl="0" indent="0" algn="l" defTabSz="91441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-12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/>
                <a:ea typeface="+mj-ea"/>
                <a:cs typeface="+mj-cs"/>
              </a:rPr>
              <a:t>Offering #1: Shape the Future with Claude Cowork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7D497AA-76BC-46FB-C024-83C6BEBFED54}"/>
              </a:ext>
            </a:extLst>
          </p:cNvPr>
          <p:cNvSpPr txBox="1">
            <a:spLocks/>
          </p:cNvSpPr>
          <p:nvPr/>
        </p:nvSpPr>
        <p:spPr>
          <a:xfrm>
            <a:off x="514350" y="381343"/>
            <a:ext cx="1666803" cy="15549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-30" normalizeH="0" baseline="0">
                <a:ln>
                  <a:noFill/>
                </a:ln>
                <a:effectLst/>
                <a:uLnTx/>
                <a:uFillTx/>
                <a:latin typeface="Graphik" panose="020B0503030202060203" pitchFamily="34" charset="77"/>
                <a:ea typeface="+mj-ea"/>
                <a:cs typeface="Arial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3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raphik Medium"/>
                <a:ea typeface="+mj-ea"/>
                <a:cs typeface="Arial"/>
                <a:sym typeface="Arial"/>
              </a:rPr>
              <a:t>Accenture + Anthropic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EEBD69-DB60-4744-D882-64C6C567DC53}"/>
              </a:ext>
            </a:extLst>
          </p:cNvPr>
          <p:cNvSpPr txBox="1">
            <a:spLocks/>
          </p:cNvSpPr>
          <p:nvPr/>
        </p:nvSpPr>
        <p:spPr>
          <a:xfrm>
            <a:off x="514349" y="1003872"/>
            <a:ext cx="10877549" cy="2064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We bring the blueprint. You bring the context. Together, we align on what’s most valuable and where to go first.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204232A-A3DA-D95E-DC08-41ADC1CE631A}"/>
              </a:ext>
            </a:extLst>
          </p:cNvPr>
          <p:cNvSpPr/>
          <p:nvPr/>
        </p:nvSpPr>
        <p:spPr>
          <a:xfrm>
            <a:off x="514349" y="1482090"/>
            <a:ext cx="8263891" cy="4566202"/>
          </a:xfrm>
          <a:prstGeom prst="roundRect">
            <a:avLst>
              <a:gd name="adj" fmla="val 15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B6841655-E56A-25E8-812B-56F2F5BD569C}"/>
              </a:ext>
            </a:extLst>
          </p:cNvPr>
          <p:cNvSpPr txBox="1">
            <a:spLocks/>
          </p:cNvSpPr>
          <p:nvPr/>
        </p:nvSpPr>
        <p:spPr>
          <a:xfrm>
            <a:off x="9344259" y="1720928"/>
            <a:ext cx="2192262" cy="470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 a plan for transformation.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 Semibold" panose="020B07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rapezoid 46">
            <a:extLst>
              <a:ext uri="{FF2B5EF4-FFF2-40B4-BE49-F238E27FC236}">
                <a16:creationId xmlns:a16="http://schemas.microsoft.com/office/drawing/2014/main" id="{F4FCBFC7-FC83-7F70-3521-E8F8E13F4821}"/>
              </a:ext>
            </a:extLst>
          </p:cNvPr>
          <p:cNvSpPr/>
          <p:nvPr/>
        </p:nvSpPr>
        <p:spPr>
          <a:xfrm rot="16200000">
            <a:off x="7284665" y="2731240"/>
            <a:ext cx="2830918" cy="893826"/>
          </a:xfrm>
          <a:prstGeom prst="trapezoid">
            <a:avLst>
              <a:gd name="adj" fmla="val 25426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FE79E012-85AD-1106-5AFD-245739D5B7DE}"/>
              </a:ext>
            </a:extLst>
          </p:cNvPr>
          <p:cNvCxnSpPr>
            <a:cxnSpLocks/>
          </p:cNvCxnSpPr>
          <p:nvPr/>
        </p:nvCxnSpPr>
        <p:spPr>
          <a:xfrm>
            <a:off x="3303529" y="1694757"/>
            <a:ext cx="0" cy="4140868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 Placeholder 7">
            <a:extLst>
              <a:ext uri="{FF2B5EF4-FFF2-40B4-BE49-F238E27FC236}">
                <a16:creationId xmlns:a16="http://schemas.microsoft.com/office/drawing/2014/main" id="{29459B03-73BE-BF47-4675-C2E9916D9468}"/>
              </a:ext>
            </a:extLst>
          </p:cNvPr>
          <p:cNvSpPr txBox="1">
            <a:spLocks/>
          </p:cNvSpPr>
          <p:nvPr/>
        </p:nvSpPr>
        <p:spPr>
          <a:xfrm>
            <a:off x="871916" y="2551812"/>
            <a:ext cx="2231397" cy="9024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Leverage Accenture's Cowork use case POV to align on primary opportunities.</a:t>
            </a:r>
            <a:endParaRPr kumimoji="0" lang="en-US" sz="600" b="0" i="0" u="none" strike="noStrike" kern="1200" cap="none" spc="-4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Understand function-specific AI readiness and map workflows with our tools. Catalog the highest-impact use cases.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FD92A63E-2134-98C2-D90A-180906B8D07A}"/>
              </a:ext>
            </a:extLst>
          </p:cNvPr>
          <p:cNvSpPr/>
          <p:nvPr/>
        </p:nvSpPr>
        <p:spPr>
          <a:xfrm>
            <a:off x="843613" y="1697293"/>
            <a:ext cx="679540" cy="6795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81" name="Group 67">
            <a:extLst>
              <a:ext uri="{FF2B5EF4-FFF2-40B4-BE49-F238E27FC236}">
                <a16:creationId xmlns:a16="http://schemas.microsoft.com/office/drawing/2014/main" id="{A77D201F-3704-CF1D-25E8-92EF11BBE96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90379" y="1844059"/>
            <a:ext cx="386008" cy="386008"/>
            <a:chOff x="3438" y="440"/>
            <a:chExt cx="427" cy="427"/>
          </a:xfrm>
          <a:solidFill>
            <a:schemeClr val="tx1"/>
          </a:solidFill>
        </p:grpSpPr>
        <p:sp>
          <p:nvSpPr>
            <p:cNvPr id="277" name="Freeform 68">
              <a:extLst>
                <a:ext uri="{FF2B5EF4-FFF2-40B4-BE49-F238E27FC236}">
                  <a16:creationId xmlns:a16="http://schemas.microsoft.com/office/drawing/2014/main" id="{674A72E5-61F4-12CB-3F54-98D6F240CE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6" y="653"/>
              <a:ext cx="391" cy="214"/>
            </a:xfrm>
            <a:custGeom>
              <a:avLst/>
              <a:gdLst>
                <a:gd name="T0" fmla="*/ 234 w 264"/>
                <a:gd name="T1" fmla="*/ 144 h 144"/>
                <a:gd name="T2" fmla="*/ 30 w 264"/>
                <a:gd name="T3" fmla="*/ 144 h 144"/>
                <a:gd name="T4" fmla="*/ 24 w 264"/>
                <a:gd name="T5" fmla="*/ 139 h 144"/>
                <a:gd name="T6" fmla="*/ 0 w 264"/>
                <a:gd name="T7" fmla="*/ 7 h 144"/>
                <a:gd name="T8" fmla="*/ 1 w 264"/>
                <a:gd name="T9" fmla="*/ 2 h 144"/>
                <a:gd name="T10" fmla="*/ 6 w 264"/>
                <a:gd name="T11" fmla="*/ 0 h 144"/>
                <a:gd name="T12" fmla="*/ 258 w 264"/>
                <a:gd name="T13" fmla="*/ 0 h 144"/>
                <a:gd name="T14" fmla="*/ 262 w 264"/>
                <a:gd name="T15" fmla="*/ 2 h 144"/>
                <a:gd name="T16" fmla="*/ 264 w 264"/>
                <a:gd name="T17" fmla="*/ 7 h 144"/>
                <a:gd name="T18" fmla="*/ 240 w 264"/>
                <a:gd name="T19" fmla="*/ 139 h 144"/>
                <a:gd name="T20" fmla="*/ 234 w 264"/>
                <a:gd name="T21" fmla="*/ 144 h 144"/>
                <a:gd name="T22" fmla="*/ 35 w 264"/>
                <a:gd name="T23" fmla="*/ 132 h 144"/>
                <a:gd name="T24" fmla="*/ 229 w 264"/>
                <a:gd name="T25" fmla="*/ 132 h 144"/>
                <a:gd name="T26" fmla="*/ 251 w 264"/>
                <a:gd name="T27" fmla="*/ 12 h 144"/>
                <a:gd name="T28" fmla="*/ 13 w 264"/>
                <a:gd name="T29" fmla="*/ 12 h 144"/>
                <a:gd name="T30" fmla="*/ 35 w 264"/>
                <a:gd name="T31" fmla="*/ 13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4" h="144">
                  <a:moveTo>
                    <a:pt x="234" y="144"/>
                  </a:moveTo>
                  <a:cubicBezTo>
                    <a:pt x="30" y="144"/>
                    <a:pt x="30" y="144"/>
                    <a:pt x="30" y="144"/>
                  </a:cubicBezTo>
                  <a:cubicBezTo>
                    <a:pt x="27" y="144"/>
                    <a:pt x="24" y="142"/>
                    <a:pt x="24" y="13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0" y="4"/>
                    <a:pt x="1" y="2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60" y="0"/>
                    <a:pt x="261" y="1"/>
                    <a:pt x="262" y="2"/>
                  </a:cubicBezTo>
                  <a:cubicBezTo>
                    <a:pt x="264" y="4"/>
                    <a:pt x="264" y="5"/>
                    <a:pt x="264" y="7"/>
                  </a:cubicBezTo>
                  <a:cubicBezTo>
                    <a:pt x="240" y="139"/>
                    <a:pt x="240" y="139"/>
                    <a:pt x="240" y="139"/>
                  </a:cubicBezTo>
                  <a:cubicBezTo>
                    <a:pt x="239" y="142"/>
                    <a:pt x="237" y="144"/>
                    <a:pt x="234" y="144"/>
                  </a:cubicBezTo>
                  <a:close/>
                  <a:moveTo>
                    <a:pt x="35" y="132"/>
                  </a:moveTo>
                  <a:cubicBezTo>
                    <a:pt x="229" y="132"/>
                    <a:pt x="229" y="132"/>
                    <a:pt x="229" y="132"/>
                  </a:cubicBezTo>
                  <a:cubicBezTo>
                    <a:pt x="251" y="12"/>
                    <a:pt x="251" y="12"/>
                    <a:pt x="251" y="12"/>
                  </a:cubicBezTo>
                  <a:cubicBezTo>
                    <a:pt x="13" y="12"/>
                    <a:pt x="13" y="12"/>
                    <a:pt x="13" y="12"/>
                  </a:cubicBezTo>
                  <a:lnTo>
                    <a:pt x="35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78" name="Freeform 69">
              <a:extLst>
                <a:ext uri="{FF2B5EF4-FFF2-40B4-BE49-F238E27FC236}">
                  <a16:creationId xmlns:a16="http://schemas.microsoft.com/office/drawing/2014/main" id="{DB874B68-8946-9DC2-8078-AB02F6C29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458"/>
              <a:ext cx="391" cy="178"/>
            </a:xfrm>
            <a:custGeom>
              <a:avLst/>
              <a:gdLst>
                <a:gd name="T0" fmla="*/ 258 w 264"/>
                <a:gd name="T1" fmla="*/ 120 h 120"/>
                <a:gd name="T2" fmla="*/ 6 w 264"/>
                <a:gd name="T3" fmla="*/ 120 h 120"/>
                <a:gd name="T4" fmla="*/ 1 w 264"/>
                <a:gd name="T5" fmla="*/ 118 h 120"/>
                <a:gd name="T6" fmla="*/ 0 w 264"/>
                <a:gd name="T7" fmla="*/ 113 h 120"/>
                <a:gd name="T8" fmla="*/ 11 w 264"/>
                <a:gd name="T9" fmla="*/ 63 h 120"/>
                <a:gd name="T10" fmla="*/ 90 w 264"/>
                <a:gd name="T11" fmla="*/ 0 h 120"/>
                <a:gd name="T12" fmla="*/ 96 w 264"/>
                <a:gd name="T13" fmla="*/ 6 h 120"/>
                <a:gd name="T14" fmla="*/ 90 w 264"/>
                <a:gd name="T15" fmla="*/ 12 h 120"/>
                <a:gd name="T16" fmla="*/ 23 w 264"/>
                <a:gd name="T17" fmla="*/ 66 h 120"/>
                <a:gd name="T18" fmla="*/ 13 w 264"/>
                <a:gd name="T19" fmla="*/ 108 h 120"/>
                <a:gd name="T20" fmla="*/ 250 w 264"/>
                <a:gd name="T21" fmla="*/ 108 h 120"/>
                <a:gd name="T22" fmla="*/ 241 w 264"/>
                <a:gd name="T23" fmla="*/ 66 h 120"/>
                <a:gd name="T24" fmla="*/ 174 w 264"/>
                <a:gd name="T25" fmla="*/ 12 h 120"/>
                <a:gd name="T26" fmla="*/ 168 w 264"/>
                <a:gd name="T27" fmla="*/ 6 h 120"/>
                <a:gd name="T28" fmla="*/ 174 w 264"/>
                <a:gd name="T29" fmla="*/ 0 h 120"/>
                <a:gd name="T30" fmla="*/ 253 w 264"/>
                <a:gd name="T31" fmla="*/ 63 h 120"/>
                <a:gd name="T32" fmla="*/ 264 w 264"/>
                <a:gd name="T33" fmla="*/ 113 h 120"/>
                <a:gd name="T34" fmla="*/ 263 w 264"/>
                <a:gd name="T35" fmla="*/ 118 h 120"/>
                <a:gd name="T36" fmla="*/ 258 w 264"/>
                <a:gd name="T37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4" h="120">
                  <a:moveTo>
                    <a:pt x="258" y="120"/>
                  </a:moveTo>
                  <a:cubicBezTo>
                    <a:pt x="6" y="120"/>
                    <a:pt x="6" y="120"/>
                    <a:pt x="6" y="120"/>
                  </a:cubicBezTo>
                  <a:cubicBezTo>
                    <a:pt x="4" y="120"/>
                    <a:pt x="2" y="119"/>
                    <a:pt x="1" y="118"/>
                  </a:cubicBezTo>
                  <a:cubicBezTo>
                    <a:pt x="0" y="116"/>
                    <a:pt x="0" y="115"/>
                    <a:pt x="0" y="113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9" y="26"/>
                    <a:pt x="52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ubicBezTo>
                    <a:pt x="58" y="12"/>
                    <a:pt x="30" y="35"/>
                    <a:pt x="23" y="66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250" y="108"/>
                    <a:pt x="250" y="108"/>
                    <a:pt x="250" y="108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34" y="34"/>
                    <a:pt x="206" y="12"/>
                    <a:pt x="174" y="12"/>
                  </a:cubicBezTo>
                  <a:cubicBezTo>
                    <a:pt x="171" y="12"/>
                    <a:pt x="168" y="9"/>
                    <a:pt x="168" y="6"/>
                  </a:cubicBezTo>
                  <a:cubicBezTo>
                    <a:pt x="168" y="3"/>
                    <a:pt x="171" y="0"/>
                    <a:pt x="174" y="0"/>
                  </a:cubicBezTo>
                  <a:cubicBezTo>
                    <a:pt x="212" y="0"/>
                    <a:pt x="244" y="26"/>
                    <a:pt x="253" y="63"/>
                  </a:cubicBezTo>
                  <a:cubicBezTo>
                    <a:pt x="264" y="113"/>
                    <a:pt x="264" y="113"/>
                    <a:pt x="264" y="113"/>
                  </a:cubicBezTo>
                  <a:cubicBezTo>
                    <a:pt x="264" y="115"/>
                    <a:pt x="264" y="116"/>
                    <a:pt x="263" y="118"/>
                  </a:cubicBezTo>
                  <a:cubicBezTo>
                    <a:pt x="261" y="119"/>
                    <a:pt x="260" y="120"/>
                    <a:pt x="258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79" name="Freeform 70">
              <a:extLst>
                <a:ext uri="{FF2B5EF4-FFF2-40B4-BE49-F238E27FC236}">
                  <a16:creationId xmlns:a16="http://schemas.microsoft.com/office/drawing/2014/main" id="{55241CAC-9424-6C2B-518E-68D639CF7E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8" y="618"/>
              <a:ext cx="427" cy="53"/>
            </a:xfrm>
            <a:custGeom>
              <a:avLst/>
              <a:gdLst>
                <a:gd name="T0" fmla="*/ 282 w 288"/>
                <a:gd name="T1" fmla="*/ 36 h 36"/>
                <a:gd name="T2" fmla="*/ 6 w 288"/>
                <a:gd name="T3" fmla="*/ 36 h 36"/>
                <a:gd name="T4" fmla="*/ 0 w 288"/>
                <a:gd name="T5" fmla="*/ 30 h 36"/>
                <a:gd name="T6" fmla="*/ 0 w 288"/>
                <a:gd name="T7" fmla="*/ 6 h 36"/>
                <a:gd name="T8" fmla="*/ 6 w 288"/>
                <a:gd name="T9" fmla="*/ 0 h 36"/>
                <a:gd name="T10" fmla="*/ 282 w 288"/>
                <a:gd name="T11" fmla="*/ 0 h 36"/>
                <a:gd name="T12" fmla="*/ 288 w 288"/>
                <a:gd name="T13" fmla="*/ 6 h 36"/>
                <a:gd name="T14" fmla="*/ 288 w 288"/>
                <a:gd name="T15" fmla="*/ 30 h 36"/>
                <a:gd name="T16" fmla="*/ 282 w 288"/>
                <a:gd name="T17" fmla="*/ 36 h 36"/>
                <a:gd name="T18" fmla="*/ 12 w 288"/>
                <a:gd name="T19" fmla="*/ 24 h 36"/>
                <a:gd name="T20" fmla="*/ 276 w 288"/>
                <a:gd name="T21" fmla="*/ 24 h 36"/>
                <a:gd name="T22" fmla="*/ 276 w 288"/>
                <a:gd name="T23" fmla="*/ 12 h 36"/>
                <a:gd name="T24" fmla="*/ 12 w 288"/>
                <a:gd name="T25" fmla="*/ 12 h 36"/>
                <a:gd name="T26" fmla="*/ 12 w 28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36">
                  <a:moveTo>
                    <a:pt x="28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30"/>
                    <a:pt x="288" y="30"/>
                    <a:pt x="288" y="30"/>
                  </a:cubicBezTo>
                  <a:cubicBezTo>
                    <a:pt x="288" y="33"/>
                    <a:pt x="285" y="36"/>
                    <a:pt x="282" y="36"/>
                  </a:cubicBezTo>
                  <a:close/>
                  <a:moveTo>
                    <a:pt x="12" y="24"/>
                  </a:moveTo>
                  <a:cubicBezTo>
                    <a:pt x="276" y="24"/>
                    <a:pt x="276" y="24"/>
                    <a:pt x="276" y="24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0" name="Freeform 71">
              <a:extLst>
                <a:ext uri="{FF2B5EF4-FFF2-40B4-BE49-F238E27FC236}">
                  <a16:creationId xmlns:a16="http://schemas.microsoft.com/office/drawing/2014/main" id="{3164ACF5-8692-655B-9EF1-5A7E648D1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689"/>
              <a:ext cx="18" cy="124"/>
            </a:xfrm>
            <a:custGeom>
              <a:avLst/>
              <a:gdLst>
                <a:gd name="T0" fmla="*/ 6 w 12"/>
                <a:gd name="T1" fmla="*/ 84 h 84"/>
                <a:gd name="T2" fmla="*/ 0 w 12"/>
                <a:gd name="T3" fmla="*/ 78 h 84"/>
                <a:gd name="T4" fmla="*/ 0 w 12"/>
                <a:gd name="T5" fmla="*/ 6 h 84"/>
                <a:gd name="T6" fmla="*/ 6 w 12"/>
                <a:gd name="T7" fmla="*/ 0 h 84"/>
                <a:gd name="T8" fmla="*/ 12 w 12"/>
                <a:gd name="T9" fmla="*/ 6 h 84"/>
                <a:gd name="T10" fmla="*/ 12 w 12"/>
                <a:gd name="T11" fmla="*/ 78 h 84"/>
                <a:gd name="T12" fmla="*/ 6 w 12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6" y="84"/>
                  </a:move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81"/>
                    <a:pt x="9" y="84"/>
                    <a:pt x="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1" name="Freeform 72">
              <a:extLst>
                <a:ext uri="{FF2B5EF4-FFF2-40B4-BE49-F238E27FC236}">
                  <a16:creationId xmlns:a16="http://schemas.microsoft.com/office/drawing/2014/main" id="{117A63CA-B43A-46A0-5D98-5B82696F3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689"/>
              <a:ext cx="18" cy="124"/>
            </a:xfrm>
            <a:custGeom>
              <a:avLst/>
              <a:gdLst>
                <a:gd name="T0" fmla="*/ 6 w 12"/>
                <a:gd name="T1" fmla="*/ 84 h 84"/>
                <a:gd name="T2" fmla="*/ 0 w 12"/>
                <a:gd name="T3" fmla="*/ 78 h 84"/>
                <a:gd name="T4" fmla="*/ 0 w 12"/>
                <a:gd name="T5" fmla="*/ 6 h 84"/>
                <a:gd name="T6" fmla="*/ 6 w 12"/>
                <a:gd name="T7" fmla="*/ 0 h 84"/>
                <a:gd name="T8" fmla="*/ 12 w 12"/>
                <a:gd name="T9" fmla="*/ 6 h 84"/>
                <a:gd name="T10" fmla="*/ 12 w 12"/>
                <a:gd name="T11" fmla="*/ 78 h 84"/>
                <a:gd name="T12" fmla="*/ 6 w 12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6" y="84"/>
                  </a:move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81"/>
                    <a:pt x="9" y="84"/>
                    <a:pt x="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2" name="Freeform 73">
              <a:extLst>
                <a:ext uri="{FF2B5EF4-FFF2-40B4-BE49-F238E27FC236}">
                  <a16:creationId xmlns:a16="http://schemas.microsoft.com/office/drawing/2014/main" id="{65D46A73-73BC-6840-EDEE-ADB76A7BB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689"/>
              <a:ext cx="18" cy="124"/>
            </a:xfrm>
            <a:custGeom>
              <a:avLst/>
              <a:gdLst>
                <a:gd name="T0" fmla="*/ 6 w 12"/>
                <a:gd name="T1" fmla="*/ 84 h 84"/>
                <a:gd name="T2" fmla="*/ 0 w 12"/>
                <a:gd name="T3" fmla="*/ 78 h 84"/>
                <a:gd name="T4" fmla="*/ 0 w 12"/>
                <a:gd name="T5" fmla="*/ 6 h 84"/>
                <a:gd name="T6" fmla="*/ 6 w 12"/>
                <a:gd name="T7" fmla="*/ 0 h 84"/>
                <a:gd name="T8" fmla="*/ 12 w 12"/>
                <a:gd name="T9" fmla="*/ 6 h 84"/>
                <a:gd name="T10" fmla="*/ 12 w 12"/>
                <a:gd name="T11" fmla="*/ 78 h 84"/>
                <a:gd name="T12" fmla="*/ 6 w 12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6" y="84"/>
                  </a:move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81"/>
                    <a:pt x="9" y="84"/>
                    <a:pt x="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3" name="Freeform 74">
              <a:extLst>
                <a:ext uri="{FF2B5EF4-FFF2-40B4-BE49-F238E27FC236}">
                  <a16:creationId xmlns:a16="http://schemas.microsoft.com/office/drawing/2014/main" id="{028269AB-8DF5-881B-BFB1-79B98A323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7" y="689"/>
              <a:ext cx="18" cy="124"/>
            </a:xfrm>
            <a:custGeom>
              <a:avLst/>
              <a:gdLst>
                <a:gd name="T0" fmla="*/ 6 w 12"/>
                <a:gd name="T1" fmla="*/ 84 h 84"/>
                <a:gd name="T2" fmla="*/ 0 w 12"/>
                <a:gd name="T3" fmla="*/ 78 h 84"/>
                <a:gd name="T4" fmla="*/ 0 w 12"/>
                <a:gd name="T5" fmla="*/ 6 h 84"/>
                <a:gd name="T6" fmla="*/ 6 w 12"/>
                <a:gd name="T7" fmla="*/ 0 h 84"/>
                <a:gd name="T8" fmla="*/ 12 w 12"/>
                <a:gd name="T9" fmla="*/ 6 h 84"/>
                <a:gd name="T10" fmla="*/ 12 w 12"/>
                <a:gd name="T11" fmla="*/ 78 h 84"/>
                <a:gd name="T12" fmla="*/ 6 w 12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6" y="84"/>
                  </a:move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81"/>
                    <a:pt x="9" y="84"/>
                    <a:pt x="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4" name="Freeform 75">
              <a:extLst>
                <a:ext uri="{FF2B5EF4-FFF2-40B4-BE49-F238E27FC236}">
                  <a16:creationId xmlns:a16="http://schemas.microsoft.com/office/drawing/2014/main" id="{0731D28A-C38A-14BA-4997-B8A8462391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0" y="440"/>
              <a:ext cx="142" cy="54"/>
            </a:xfrm>
            <a:custGeom>
              <a:avLst/>
              <a:gdLst>
                <a:gd name="T0" fmla="*/ 78 w 96"/>
                <a:gd name="T1" fmla="*/ 36 h 36"/>
                <a:gd name="T2" fmla="*/ 18 w 96"/>
                <a:gd name="T3" fmla="*/ 36 h 36"/>
                <a:gd name="T4" fmla="*/ 0 w 96"/>
                <a:gd name="T5" fmla="*/ 18 h 36"/>
                <a:gd name="T6" fmla="*/ 18 w 96"/>
                <a:gd name="T7" fmla="*/ 0 h 36"/>
                <a:gd name="T8" fmla="*/ 78 w 96"/>
                <a:gd name="T9" fmla="*/ 0 h 36"/>
                <a:gd name="T10" fmla="*/ 96 w 96"/>
                <a:gd name="T11" fmla="*/ 18 h 36"/>
                <a:gd name="T12" fmla="*/ 78 w 96"/>
                <a:gd name="T13" fmla="*/ 36 h 36"/>
                <a:gd name="T14" fmla="*/ 18 w 96"/>
                <a:gd name="T15" fmla="*/ 12 h 36"/>
                <a:gd name="T16" fmla="*/ 12 w 96"/>
                <a:gd name="T17" fmla="*/ 18 h 36"/>
                <a:gd name="T18" fmla="*/ 18 w 96"/>
                <a:gd name="T19" fmla="*/ 24 h 36"/>
                <a:gd name="T20" fmla="*/ 78 w 96"/>
                <a:gd name="T21" fmla="*/ 24 h 36"/>
                <a:gd name="T22" fmla="*/ 84 w 96"/>
                <a:gd name="T23" fmla="*/ 18 h 36"/>
                <a:gd name="T24" fmla="*/ 78 w 96"/>
                <a:gd name="T25" fmla="*/ 12 h 36"/>
                <a:gd name="T26" fmla="*/ 18 w 96"/>
                <a:gd name="T27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" h="36">
                  <a:moveTo>
                    <a:pt x="78" y="36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8" y="0"/>
                    <a:pt x="96" y="8"/>
                    <a:pt x="96" y="18"/>
                  </a:cubicBezTo>
                  <a:cubicBezTo>
                    <a:pt x="96" y="28"/>
                    <a:pt x="88" y="36"/>
                    <a:pt x="7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81" y="24"/>
                    <a:pt x="84" y="21"/>
                    <a:pt x="84" y="18"/>
                  </a:cubicBezTo>
                  <a:cubicBezTo>
                    <a:pt x="84" y="15"/>
                    <a:pt x="81" y="12"/>
                    <a:pt x="78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289" name="Text Placeholder 16">
            <a:extLst>
              <a:ext uri="{FF2B5EF4-FFF2-40B4-BE49-F238E27FC236}">
                <a16:creationId xmlns:a16="http://schemas.microsoft.com/office/drawing/2014/main" id="{51D640A7-5093-8EE1-D503-376ED819647C}"/>
              </a:ext>
            </a:extLst>
          </p:cNvPr>
          <p:cNvSpPr txBox="1">
            <a:spLocks/>
          </p:cNvSpPr>
          <p:nvPr/>
        </p:nvSpPr>
        <p:spPr>
          <a:xfrm>
            <a:off x="1703200" y="1928065"/>
            <a:ext cx="1220588" cy="235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Semibold" panose="020B07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2" name="Rectangle: Rounded Corners 291">
            <a:extLst>
              <a:ext uri="{FF2B5EF4-FFF2-40B4-BE49-F238E27FC236}">
                <a16:creationId xmlns:a16="http://schemas.microsoft.com/office/drawing/2014/main" id="{A20FA61D-FBA6-20EF-34FE-90EAC20958AF}"/>
              </a:ext>
            </a:extLst>
          </p:cNvPr>
          <p:cNvSpPr/>
          <p:nvPr/>
        </p:nvSpPr>
        <p:spPr>
          <a:xfrm>
            <a:off x="846517" y="3749041"/>
            <a:ext cx="2231396" cy="204533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6EE608E-3014-DE38-7EBD-6980002BCD38}"/>
              </a:ext>
            </a:extLst>
          </p:cNvPr>
          <p:cNvGrpSpPr/>
          <p:nvPr/>
        </p:nvGrpSpPr>
        <p:grpSpPr>
          <a:xfrm>
            <a:off x="1550645" y="3985055"/>
            <a:ext cx="823140" cy="731576"/>
            <a:chOff x="1477181" y="-958613"/>
            <a:chExt cx="823140" cy="731576"/>
          </a:xfrm>
        </p:grpSpPr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B1F4F372-546B-4BFD-AB69-09A4EFDE0EFA}"/>
                </a:ext>
              </a:extLst>
            </p:cNvPr>
            <p:cNvSpPr/>
            <p:nvPr/>
          </p:nvSpPr>
          <p:spPr>
            <a:xfrm>
              <a:off x="1679057" y="-958613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07917947-B3F6-1169-CB8C-3B33B06D3347}"/>
                </a:ext>
              </a:extLst>
            </p:cNvPr>
            <p:cNvSpPr/>
            <p:nvPr/>
          </p:nvSpPr>
          <p:spPr>
            <a:xfrm>
              <a:off x="1876165" y="-957204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9BF50728-A09E-87F2-DCF5-E8540AB3A68E}"/>
                </a:ext>
              </a:extLst>
            </p:cNvPr>
            <p:cNvSpPr/>
            <p:nvPr/>
          </p:nvSpPr>
          <p:spPr>
            <a:xfrm>
              <a:off x="2051981" y="-882560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A56C8D0C-088E-F958-3046-C8B8F4804968}"/>
                </a:ext>
              </a:extLst>
            </p:cNvPr>
            <p:cNvSpPr/>
            <p:nvPr/>
          </p:nvSpPr>
          <p:spPr>
            <a:xfrm>
              <a:off x="2188497" y="-762340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7EE4BA15-931E-2EF8-60B6-FC21C0E48396}"/>
                </a:ext>
              </a:extLst>
            </p:cNvPr>
            <p:cNvSpPr/>
            <p:nvPr/>
          </p:nvSpPr>
          <p:spPr>
            <a:xfrm>
              <a:off x="1827019" y="-804172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33302B8F-B448-76CA-5EAF-74FAD9074D3F}"/>
                </a:ext>
              </a:extLst>
            </p:cNvPr>
            <p:cNvSpPr/>
            <p:nvPr/>
          </p:nvSpPr>
          <p:spPr>
            <a:xfrm>
              <a:off x="1477181" y="-655428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319B8591-9AA2-65F8-910D-B338245657AE}"/>
                </a:ext>
              </a:extLst>
            </p:cNvPr>
            <p:cNvSpPr/>
            <p:nvPr/>
          </p:nvSpPr>
          <p:spPr>
            <a:xfrm>
              <a:off x="1565251" y="-813789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1187FFE4-73B2-8E24-AF3A-60D1323E889E}"/>
                </a:ext>
              </a:extLst>
            </p:cNvPr>
            <p:cNvSpPr/>
            <p:nvPr/>
          </p:nvSpPr>
          <p:spPr>
            <a:xfrm>
              <a:off x="1859814" y="-660190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D07CE00B-B38D-9EF5-867D-B7D70CF3F86D}"/>
                </a:ext>
              </a:extLst>
            </p:cNvPr>
            <p:cNvSpPr/>
            <p:nvPr/>
          </p:nvSpPr>
          <p:spPr>
            <a:xfrm>
              <a:off x="2050902" y="-681455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56C41F37-CE81-F2A9-95E7-D26AB15F6431}"/>
                </a:ext>
              </a:extLst>
            </p:cNvPr>
            <p:cNvSpPr/>
            <p:nvPr/>
          </p:nvSpPr>
          <p:spPr>
            <a:xfrm>
              <a:off x="2081509" y="-376419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4EEE8AEF-8AA6-7DA1-5A14-414CE68BC9D1}"/>
                </a:ext>
              </a:extLst>
            </p:cNvPr>
            <p:cNvSpPr/>
            <p:nvPr/>
          </p:nvSpPr>
          <p:spPr>
            <a:xfrm>
              <a:off x="1492453" y="-477323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3B281D18-DE98-99A3-7974-40ACA1465BB5}"/>
                </a:ext>
              </a:extLst>
            </p:cNvPr>
            <p:cNvSpPr/>
            <p:nvPr/>
          </p:nvSpPr>
          <p:spPr>
            <a:xfrm>
              <a:off x="1679058" y="-668153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5FFA55BE-25A2-4FD7-8C1F-F524F828E915}"/>
                </a:ext>
              </a:extLst>
            </p:cNvPr>
            <p:cNvSpPr/>
            <p:nvPr/>
          </p:nvSpPr>
          <p:spPr>
            <a:xfrm>
              <a:off x="2013596" y="-513455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BF1CB662-C05B-DC49-3436-5C6402893411}"/>
                </a:ext>
              </a:extLst>
            </p:cNvPr>
            <p:cNvSpPr/>
            <p:nvPr/>
          </p:nvSpPr>
          <p:spPr>
            <a:xfrm>
              <a:off x="2193337" y="-556330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1FB22BC4-49E3-368E-7AB6-DD3447FF54C2}"/>
                </a:ext>
              </a:extLst>
            </p:cNvPr>
            <p:cNvSpPr/>
            <p:nvPr/>
          </p:nvSpPr>
          <p:spPr>
            <a:xfrm>
              <a:off x="1597072" y="-554097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24783973-672D-5054-35FF-284DE897CB08}"/>
                </a:ext>
              </a:extLst>
            </p:cNvPr>
            <p:cNvSpPr/>
            <p:nvPr/>
          </p:nvSpPr>
          <p:spPr>
            <a:xfrm>
              <a:off x="1599437" y="-376419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5F0DAD93-5F8E-8071-F749-D97220EBDC28}"/>
                </a:ext>
              </a:extLst>
            </p:cNvPr>
            <p:cNvSpPr/>
            <p:nvPr/>
          </p:nvSpPr>
          <p:spPr>
            <a:xfrm>
              <a:off x="1741600" y="-524952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E5AE2951-1771-49AD-487E-51809C8BB6CA}"/>
                </a:ext>
              </a:extLst>
            </p:cNvPr>
            <p:cNvSpPr/>
            <p:nvPr/>
          </p:nvSpPr>
          <p:spPr>
            <a:xfrm>
              <a:off x="1899711" y="-486290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C4043FF6-E22E-13EE-F6CE-1C5F0ECF8D6F}"/>
                </a:ext>
              </a:extLst>
            </p:cNvPr>
            <p:cNvSpPr/>
            <p:nvPr/>
          </p:nvSpPr>
          <p:spPr>
            <a:xfrm>
              <a:off x="1712735" y="-334021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DE02BBE9-8BFA-E027-B904-7E67D2E648C3}"/>
                </a:ext>
              </a:extLst>
            </p:cNvPr>
            <p:cNvSpPr/>
            <p:nvPr/>
          </p:nvSpPr>
          <p:spPr>
            <a:xfrm>
              <a:off x="1857126" y="-356270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7" name="Text Placeholder 7">
            <a:extLst>
              <a:ext uri="{FF2B5EF4-FFF2-40B4-BE49-F238E27FC236}">
                <a16:creationId xmlns:a16="http://schemas.microsoft.com/office/drawing/2014/main" id="{949F1784-E0FC-9E0E-D6DD-591FFF8D03E3}"/>
              </a:ext>
            </a:extLst>
          </p:cNvPr>
          <p:cNvSpPr txBox="1">
            <a:spLocks/>
          </p:cNvSpPr>
          <p:nvPr/>
        </p:nvSpPr>
        <p:spPr>
          <a:xfrm>
            <a:off x="3557448" y="2551812"/>
            <a:ext cx="2231396" cy="9024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Estimate impact in your environment using benchmarks &amp; process analysis.</a:t>
            </a:r>
            <a:endParaRPr kumimoji="0" lang="en-US" sz="600" b="0" i="0" u="none" strike="noStrike" kern="1200" cap="none" spc="-4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Leverage our industry expertise and Cowork ROI Calculator to understand impact and costs across use cases.</a:t>
            </a:r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D72F1856-95EC-21A9-64DD-A79AC811F53D}"/>
              </a:ext>
            </a:extLst>
          </p:cNvPr>
          <p:cNvSpPr/>
          <p:nvPr/>
        </p:nvSpPr>
        <p:spPr>
          <a:xfrm>
            <a:off x="3529144" y="1697293"/>
            <a:ext cx="679540" cy="6795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0" name="Text Placeholder 16">
            <a:extLst>
              <a:ext uri="{FF2B5EF4-FFF2-40B4-BE49-F238E27FC236}">
                <a16:creationId xmlns:a16="http://schemas.microsoft.com/office/drawing/2014/main" id="{6AEBBC99-27D7-6654-3CD5-BF66F47120F0}"/>
              </a:ext>
            </a:extLst>
          </p:cNvPr>
          <p:cNvSpPr txBox="1">
            <a:spLocks/>
          </p:cNvSpPr>
          <p:nvPr/>
        </p:nvSpPr>
        <p:spPr>
          <a:xfrm>
            <a:off x="4388731" y="1928065"/>
            <a:ext cx="1220588" cy="235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Semibold" panose="020B07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E6EE8BCB-FF47-5630-C4C6-94C81937D9B5}"/>
              </a:ext>
            </a:extLst>
          </p:cNvPr>
          <p:cNvSpPr/>
          <p:nvPr/>
        </p:nvSpPr>
        <p:spPr>
          <a:xfrm>
            <a:off x="3532048" y="3749041"/>
            <a:ext cx="2231396" cy="204533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sp>
        <p:nvSpPr>
          <p:cNvPr id="362" name="Text Placeholder 7">
            <a:extLst>
              <a:ext uri="{FF2B5EF4-FFF2-40B4-BE49-F238E27FC236}">
                <a16:creationId xmlns:a16="http://schemas.microsoft.com/office/drawing/2014/main" id="{03631A8E-407B-120D-356C-AD532E7EA4EA}"/>
              </a:ext>
            </a:extLst>
          </p:cNvPr>
          <p:cNvSpPr txBox="1">
            <a:spLocks/>
          </p:cNvSpPr>
          <p:nvPr/>
        </p:nvSpPr>
        <p:spPr>
          <a:xfrm>
            <a:off x="6242979" y="2551812"/>
            <a:ext cx="2231396" cy="9024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Focus on the right first moves and sequence them thoughtfully. </a:t>
            </a:r>
            <a:endParaRPr kumimoji="0" lang="en-US" sz="600" b="0" i="0" u="none" strike="noStrike" kern="1200" cap="none" spc="-4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  <a:p>
            <a:pPr marL="0" marR="0" lvl="0" indent="0" algn="l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+mn-ea"/>
                <a:cs typeface="+mn-cs"/>
              </a:rPr>
              <a:t>Prioritize use cases based on desirability, feasibility, and viability. Sequence functional rollouts accordingly.</a:t>
            </a:r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929D6F57-78D9-23FB-8FDE-602D47A9C7E4}"/>
              </a:ext>
            </a:extLst>
          </p:cNvPr>
          <p:cNvSpPr/>
          <p:nvPr/>
        </p:nvSpPr>
        <p:spPr>
          <a:xfrm>
            <a:off x="6214675" y="1697293"/>
            <a:ext cx="679540" cy="6795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5" name="Text Placeholder 16">
            <a:extLst>
              <a:ext uri="{FF2B5EF4-FFF2-40B4-BE49-F238E27FC236}">
                <a16:creationId xmlns:a16="http://schemas.microsoft.com/office/drawing/2014/main" id="{047B461D-AA6D-D0F7-8C33-7A83321C62FA}"/>
              </a:ext>
            </a:extLst>
          </p:cNvPr>
          <p:cNvSpPr txBox="1">
            <a:spLocks/>
          </p:cNvSpPr>
          <p:nvPr/>
        </p:nvSpPr>
        <p:spPr>
          <a:xfrm>
            <a:off x="7074262" y="1928065"/>
            <a:ext cx="1220588" cy="235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Semibold" panose="020B07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C96B9A72-7635-4934-3454-ED875C271CCB}"/>
              </a:ext>
            </a:extLst>
          </p:cNvPr>
          <p:cNvSpPr/>
          <p:nvPr/>
        </p:nvSpPr>
        <p:spPr>
          <a:xfrm>
            <a:off x="6217579" y="3749041"/>
            <a:ext cx="2231396" cy="204533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D4295E98-9887-0124-7EDA-66716BA07500}"/>
              </a:ext>
            </a:extLst>
          </p:cNvPr>
          <p:cNvCxnSpPr>
            <a:cxnSpLocks/>
          </p:cNvCxnSpPr>
          <p:nvPr/>
        </p:nvCxnSpPr>
        <p:spPr>
          <a:xfrm>
            <a:off x="5989060" y="1694757"/>
            <a:ext cx="0" cy="4140868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572A809C-61E7-DB18-8A3D-3C0BAF9700FF}"/>
              </a:ext>
            </a:extLst>
          </p:cNvPr>
          <p:cNvGrpSpPr/>
          <p:nvPr/>
        </p:nvGrpSpPr>
        <p:grpSpPr>
          <a:xfrm>
            <a:off x="3679298" y="1852334"/>
            <a:ext cx="379233" cy="369459"/>
            <a:chOff x="3067063" y="2005970"/>
            <a:chExt cx="379233" cy="369459"/>
          </a:xfrm>
          <a:solidFill>
            <a:schemeClr val="tx1"/>
          </a:solidFill>
        </p:grpSpPr>
        <p:sp>
          <p:nvSpPr>
            <p:cNvPr id="185" name="Freeform 148">
              <a:extLst>
                <a:ext uri="{FF2B5EF4-FFF2-40B4-BE49-F238E27FC236}">
                  <a16:creationId xmlns:a16="http://schemas.microsoft.com/office/drawing/2014/main" id="{1534987A-DACD-EE76-144E-AAF2D8822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398" y="2057481"/>
              <a:ext cx="66610" cy="63945"/>
            </a:xfrm>
            <a:custGeom>
              <a:avLst/>
              <a:gdLst>
                <a:gd name="T0" fmla="*/ 7 w 51"/>
                <a:gd name="T1" fmla="*/ 50 h 50"/>
                <a:gd name="T2" fmla="*/ 3 w 51"/>
                <a:gd name="T3" fmla="*/ 48 h 50"/>
                <a:gd name="T4" fmla="*/ 3 w 51"/>
                <a:gd name="T5" fmla="*/ 40 h 50"/>
                <a:gd name="T6" fmla="*/ 40 w 51"/>
                <a:gd name="T7" fmla="*/ 3 h 50"/>
                <a:gd name="T8" fmla="*/ 49 w 51"/>
                <a:gd name="T9" fmla="*/ 3 h 50"/>
                <a:gd name="T10" fmla="*/ 49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6" y="50"/>
                    <a:pt x="4" y="49"/>
                    <a:pt x="3" y="48"/>
                  </a:cubicBezTo>
                  <a:cubicBezTo>
                    <a:pt x="0" y="46"/>
                    <a:pt x="0" y="42"/>
                    <a:pt x="3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9" y="3"/>
                  </a:cubicBezTo>
                  <a:cubicBezTo>
                    <a:pt x="51" y="5"/>
                    <a:pt x="51" y="9"/>
                    <a:pt x="49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9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86" name="Freeform 149">
              <a:extLst>
                <a:ext uri="{FF2B5EF4-FFF2-40B4-BE49-F238E27FC236}">
                  <a16:creationId xmlns:a16="http://schemas.microsoft.com/office/drawing/2014/main" id="{5FA0E261-EA8D-3E3A-E9A8-E2348326F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7252" y="2005970"/>
              <a:ext cx="79044" cy="7726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87" name="Freeform 150">
              <a:extLst>
                <a:ext uri="{FF2B5EF4-FFF2-40B4-BE49-F238E27FC236}">
                  <a16:creationId xmlns:a16="http://schemas.microsoft.com/office/drawing/2014/main" id="{021BC72C-B0DF-9A0E-6956-C7FF7B19B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384" y="2274183"/>
              <a:ext cx="50624" cy="48847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1 h 38"/>
                <a:gd name="T6" fmla="*/ 2 w 39"/>
                <a:gd name="T7" fmla="*/ 2 h 38"/>
                <a:gd name="T8" fmla="*/ 11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88" name="Freeform 151">
              <a:extLst>
                <a:ext uri="{FF2B5EF4-FFF2-40B4-BE49-F238E27FC236}">
                  <a16:creationId xmlns:a16="http://schemas.microsoft.com/office/drawing/2014/main" id="{2168215F-8B19-A78B-44AC-9674170A7A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7252" y="2299050"/>
              <a:ext cx="79044" cy="76379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89" name="Freeform 152">
              <a:extLst>
                <a:ext uri="{FF2B5EF4-FFF2-40B4-BE49-F238E27FC236}">
                  <a16:creationId xmlns:a16="http://schemas.microsoft.com/office/drawing/2014/main" id="{ECE949AE-84F6-4D40-B432-6EE5C3063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351" y="2057481"/>
              <a:ext cx="66610" cy="63945"/>
            </a:xfrm>
            <a:custGeom>
              <a:avLst/>
              <a:gdLst>
                <a:gd name="T0" fmla="*/ 44 w 51"/>
                <a:gd name="T1" fmla="*/ 50 h 50"/>
                <a:gd name="T2" fmla="*/ 40 w 51"/>
                <a:gd name="T3" fmla="*/ 48 h 50"/>
                <a:gd name="T4" fmla="*/ 3 w 51"/>
                <a:gd name="T5" fmla="*/ 11 h 50"/>
                <a:gd name="T6" fmla="*/ 2 w 51"/>
                <a:gd name="T7" fmla="*/ 3 h 50"/>
                <a:gd name="T8" fmla="*/ 11 w 51"/>
                <a:gd name="T9" fmla="*/ 3 h 50"/>
                <a:gd name="T10" fmla="*/ 48 w 51"/>
                <a:gd name="T11" fmla="*/ 40 h 50"/>
                <a:gd name="T12" fmla="*/ 48 w 51"/>
                <a:gd name="T13" fmla="*/ 48 h 50"/>
                <a:gd name="T14" fmla="*/ 44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cubicBezTo>
                    <a:pt x="43" y="50"/>
                    <a:pt x="41" y="49"/>
                    <a:pt x="40" y="48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2"/>
                    <a:pt x="51" y="46"/>
                    <a:pt x="48" y="48"/>
                  </a:cubicBezTo>
                  <a:cubicBezTo>
                    <a:pt x="47" y="49"/>
                    <a:pt x="46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0" name="Freeform 153">
              <a:extLst>
                <a:ext uri="{FF2B5EF4-FFF2-40B4-BE49-F238E27FC236}">
                  <a16:creationId xmlns:a16="http://schemas.microsoft.com/office/drawing/2014/main" id="{BA2FE97D-29A6-C05D-1671-F43AF92401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63" y="2005970"/>
              <a:ext cx="79044" cy="7726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1" name="Freeform 154">
              <a:extLst>
                <a:ext uri="{FF2B5EF4-FFF2-40B4-BE49-F238E27FC236}">
                  <a16:creationId xmlns:a16="http://schemas.microsoft.com/office/drawing/2014/main" id="{996A3EF3-4126-E79C-0F6C-2C038A725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1239" y="2274183"/>
              <a:ext cx="49735" cy="48847"/>
            </a:xfrm>
            <a:custGeom>
              <a:avLst/>
              <a:gdLst>
                <a:gd name="T0" fmla="*/ 6 w 38"/>
                <a:gd name="T1" fmla="*/ 38 h 38"/>
                <a:gd name="T2" fmla="*/ 2 w 38"/>
                <a:gd name="T3" fmla="*/ 36 h 38"/>
                <a:gd name="T4" fmla="*/ 2 w 38"/>
                <a:gd name="T5" fmla="*/ 28 h 38"/>
                <a:gd name="T6" fmla="*/ 27 w 38"/>
                <a:gd name="T7" fmla="*/ 2 h 38"/>
                <a:gd name="T8" fmla="*/ 36 w 38"/>
                <a:gd name="T9" fmla="*/ 2 h 38"/>
                <a:gd name="T10" fmla="*/ 36 w 38"/>
                <a:gd name="T11" fmla="*/ 11 h 38"/>
                <a:gd name="T12" fmla="*/ 10 w 38"/>
                <a:gd name="T13" fmla="*/ 36 h 38"/>
                <a:gd name="T14" fmla="*/ 6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6" y="38"/>
                  </a:moveTo>
                  <a:cubicBezTo>
                    <a:pt x="5" y="38"/>
                    <a:pt x="3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3" y="0"/>
                    <a:pt x="36" y="2"/>
                  </a:cubicBezTo>
                  <a:cubicBezTo>
                    <a:pt x="38" y="4"/>
                    <a:pt x="38" y="8"/>
                    <a:pt x="36" y="11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7"/>
                    <a:pt x="8" y="38"/>
                    <a:pt x="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2" name="Freeform 155">
              <a:extLst>
                <a:ext uri="{FF2B5EF4-FFF2-40B4-BE49-F238E27FC236}">
                  <a16:creationId xmlns:a16="http://schemas.microsoft.com/office/drawing/2014/main" id="{D268B8C7-C856-1B3D-F234-31C412384C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63" y="2299050"/>
              <a:ext cx="79044" cy="76379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3" name="Freeform 156">
              <a:extLst>
                <a:ext uri="{FF2B5EF4-FFF2-40B4-BE49-F238E27FC236}">
                  <a16:creationId xmlns:a16="http://schemas.microsoft.com/office/drawing/2014/main" id="{5E92EA12-1F76-4509-997F-00215AEFD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293" y="2175601"/>
              <a:ext cx="63946" cy="1509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4" name="Freeform 157">
              <a:extLst>
                <a:ext uri="{FF2B5EF4-FFF2-40B4-BE49-F238E27FC236}">
                  <a16:creationId xmlns:a16="http://schemas.microsoft.com/office/drawing/2014/main" id="{4313EF10-BE71-47C9-E294-D37FB3AAD4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7252" y="2144517"/>
              <a:ext cx="79044" cy="7726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5" name="Freeform 158">
              <a:extLst>
                <a:ext uri="{FF2B5EF4-FFF2-40B4-BE49-F238E27FC236}">
                  <a16:creationId xmlns:a16="http://schemas.microsoft.com/office/drawing/2014/main" id="{5E21A204-BFE4-53F2-8102-141340A79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120" y="2175601"/>
              <a:ext cx="63057" cy="1509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6" name="Freeform 159">
              <a:extLst>
                <a:ext uri="{FF2B5EF4-FFF2-40B4-BE49-F238E27FC236}">
                  <a16:creationId xmlns:a16="http://schemas.microsoft.com/office/drawing/2014/main" id="{24F4AFF8-4E24-4AD8-0A4D-AE9A6B8DF7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63" y="2144517"/>
              <a:ext cx="79044" cy="7726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7" name="Oval 160">
              <a:extLst>
                <a:ext uri="{FF2B5EF4-FFF2-40B4-BE49-F238E27FC236}">
                  <a16:creationId xmlns:a16="http://schemas.microsoft.com/office/drawing/2014/main" id="{891D20E7-AB50-DE08-F4B9-4438D2D35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808" y="2253756"/>
              <a:ext cx="25756" cy="257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  <p:sp>
          <p:nvSpPr>
            <p:cNvPr id="198" name="Freeform 161">
              <a:extLst>
                <a:ext uri="{FF2B5EF4-FFF2-40B4-BE49-F238E27FC236}">
                  <a16:creationId xmlns:a16="http://schemas.microsoft.com/office/drawing/2014/main" id="{3A771333-3740-DC91-23E7-4E4998BB1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171" y="2112545"/>
              <a:ext cx="95030" cy="129666"/>
            </a:xfrm>
            <a:custGeom>
              <a:avLst/>
              <a:gdLst>
                <a:gd name="T0" fmla="*/ 36 w 72"/>
                <a:gd name="T1" fmla="*/ 101 h 101"/>
                <a:gd name="T2" fmla="*/ 30 w 72"/>
                <a:gd name="T3" fmla="*/ 95 h 101"/>
                <a:gd name="T4" fmla="*/ 30 w 72"/>
                <a:gd name="T5" fmla="*/ 65 h 101"/>
                <a:gd name="T6" fmla="*/ 36 w 72"/>
                <a:gd name="T7" fmla="*/ 59 h 101"/>
                <a:gd name="T8" fmla="*/ 60 w 72"/>
                <a:gd name="T9" fmla="*/ 36 h 101"/>
                <a:gd name="T10" fmla="*/ 36 w 72"/>
                <a:gd name="T11" fmla="*/ 12 h 101"/>
                <a:gd name="T12" fmla="*/ 12 w 72"/>
                <a:gd name="T13" fmla="*/ 36 h 101"/>
                <a:gd name="T14" fmla="*/ 6 w 72"/>
                <a:gd name="T15" fmla="*/ 42 h 101"/>
                <a:gd name="T16" fmla="*/ 0 w 72"/>
                <a:gd name="T17" fmla="*/ 36 h 101"/>
                <a:gd name="T18" fmla="*/ 36 w 72"/>
                <a:gd name="T19" fmla="*/ 0 h 101"/>
                <a:gd name="T20" fmla="*/ 72 w 72"/>
                <a:gd name="T21" fmla="*/ 36 h 101"/>
                <a:gd name="T22" fmla="*/ 42 w 72"/>
                <a:gd name="T23" fmla="*/ 71 h 101"/>
                <a:gd name="T24" fmla="*/ 42 w 72"/>
                <a:gd name="T25" fmla="*/ 95 h 101"/>
                <a:gd name="T26" fmla="*/ 36 w 72"/>
                <a:gd name="T2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01">
                  <a:moveTo>
                    <a:pt x="36" y="101"/>
                  </a:moveTo>
                  <a:cubicBezTo>
                    <a:pt x="33" y="101"/>
                    <a:pt x="30" y="99"/>
                    <a:pt x="30" y="9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2"/>
                    <a:pt x="33" y="59"/>
                    <a:pt x="36" y="59"/>
                  </a:cubicBezTo>
                  <a:cubicBezTo>
                    <a:pt x="49" y="59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ubicBezTo>
                    <a:pt x="23" y="12"/>
                    <a:pt x="12" y="23"/>
                    <a:pt x="12" y="36"/>
                  </a:cubicBezTo>
                  <a:cubicBezTo>
                    <a:pt x="12" y="39"/>
                    <a:pt x="10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3"/>
                    <a:pt x="59" y="68"/>
                    <a:pt x="42" y="71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9"/>
                    <a:pt x="39" y="101"/>
                    <a:pt x="3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endParaRPr>
            </a:p>
          </p:txBody>
        </p:sp>
      </p:grpSp>
      <p:grpSp>
        <p:nvGrpSpPr>
          <p:cNvPr id="403" name="Group 177">
            <a:extLst>
              <a:ext uri="{FF2B5EF4-FFF2-40B4-BE49-F238E27FC236}">
                <a16:creationId xmlns:a16="http://schemas.microsoft.com/office/drawing/2014/main" id="{D00599B4-7728-E076-CBEF-122BAB6989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90378" y="1846782"/>
            <a:ext cx="366235" cy="380563"/>
            <a:chOff x="3445" y="2997"/>
            <a:chExt cx="409" cy="425"/>
          </a:xfrm>
          <a:solidFill>
            <a:schemeClr val="tx1"/>
          </a:solidFill>
        </p:grpSpPr>
        <p:sp>
          <p:nvSpPr>
            <p:cNvPr id="404" name="Freeform 178">
              <a:extLst>
                <a:ext uri="{FF2B5EF4-FFF2-40B4-BE49-F238E27FC236}">
                  <a16:creationId xmlns:a16="http://schemas.microsoft.com/office/drawing/2014/main" id="{A3B3A177-06EB-B135-37BD-1CBF1608E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2997"/>
              <a:ext cx="35" cy="35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6 h 24"/>
                <a:gd name="T6" fmla="*/ 6 w 24"/>
                <a:gd name="T7" fmla="*/ 0 h 24"/>
                <a:gd name="T8" fmla="*/ 18 w 24"/>
                <a:gd name="T9" fmla="*/ 0 h 24"/>
                <a:gd name="T10" fmla="*/ 24 w 24"/>
                <a:gd name="T11" fmla="*/ 6 h 24"/>
                <a:gd name="T12" fmla="*/ 18 w 24"/>
                <a:gd name="T13" fmla="*/ 12 h 24"/>
                <a:gd name="T14" fmla="*/ 12 w 24"/>
                <a:gd name="T15" fmla="*/ 12 h 24"/>
                <a:gd name="T16" fmla="*/ 12 w 24"/>
                <a:gd name="T17" fmla="*/ 18 h 24"/>
                <a:gd name="T18" fmla="*/ 6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05" name="Freeform 179">
              <a:extLst>
                <a:ext uri="{FF2B5EF4-FFF2-40B4-BE49-F238E27FC236}">
                  <a16:creationId xmlns:a16="http://schemas.microsoft.com/office/drawing/2014/main" id="{C37BAA4C-53AD-B5EF-1AD6-875278E5D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2997"/>
              <a:ext cx="36" cy="35"/>
            </a:xfrm>
            <a:custGeom>
              <a:avLst/>
              <a:gdLst>
                <a:gd name="T0" fmla="*/ 18 w 24"/>
                <a:gd name="T1" fmla="*/ 24 h 24"/>
                <a:gd name="T2" fmla="*/ 12 w 24"/>
                <a:gd name="T3" fmla="*/ 18 h 24"/>
                <a:gd name="T4" fmla="*/ 12 w 24"/>
                <a:gd name="T5" fmla="*/ 12 h 24"/>
                <a:gd name="T6" fmla="*/ 6 w 24"/>
                <a:gd name="T7" fmla="*/ 12 h 24"/>
                <a:gd name="T8" fmla="*/ 0 w 24"/>
                <a:gd name="T9" fmla="*/ 6 h 24"/>
                <a:gd name="T10" fmla="*/ 6 w 24"/>
                <a:gd name="T11" fmla="*/ 0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15" y="24"/>
                    <a:pt x="12" y="22"/>
                    <a:pt x="12" y="18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06" name="Freeform 180">
              <a:extLst>
                <a:ext uri="{FF2B5EF4-FFF2-40B4-BE49-F238E27FC236}">
                  <a16:creationId xmlns:a16="http://schemas.microsoft.com/office/drawing/2014/main" id="{51C0ED3A-3043-C906-C771-583120B26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3050"/>
              <a:ext cx="17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07" name="Freeform 181">
              <a:extLst>
                <a:ext uri="{FF2B5EF4-FFF2-40B4-BE49-F238E27FC236}">
                  <a16:creationId xmlns:a16="http://schemas.microsoft.com/office/drawing/2014/main" id="{6AEDDAD0-EB92-60F9-4A0B-310D7DCEA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2997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08" name="Freeform 182">
              <a:extLst>
                <a:ext uri="{FF2B5EF4-FFF2-40B4-BE49-F238E27FC236}">
                  <a16:creationId xmlns:a16="http://schemas.microsoft.com/office/drawing/2014/main" id="{FCCDD79D-5EED-0188-17D6-ABCD038A1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174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09" name="Freeform 183">
              <a:extLst>
                <a:ext uri="{FF2B5EF4-FFF2-40B4-BE49-F238E27FC236}">
                  <a16:creationId xmlns:a16="http://schemas.microsoft.com/office/drawing/2014/main" id="{768B3DCD-7C16-20D0-C730-05FC0BFB8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" y="2997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0" name="Freeform 184">
              <a:extLst>
                <a:ext uri="{FF2B5EF4-FFF2-40B4-BE49-F238E27FC236}">
                  <a16:creationId xmlns:a16="http://schemas.microsoft.com/office/drawing/2014/main" id="{83B9E708-E80B-8519-0710-2ECFEC37E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" y="3174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1" name="Freeform 185">
              <a:extLst>
                <a:ext uri="{FF2B5EF4-FFF2-40B4-BE49-F238E27FC236}">
                  <a16:creationId xmlns:a16="http://schemas.microsoft.com/office/drawing/2014/main" id="{E4CF9167-6AAD-8605-74F8-C74FEFF05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3156"/>
              <a:ext cx="36" cy="36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6 w 24"/>
                <a:gd name="T7" fmla="*/ 12 h 24"/>
                <a:gd name="T8" fmla="*/ 12 w 24"/>
                <a:gd name="T9" fmla="*/ 12 h 24"/>
                <a:gd name="T10" fmla="*/ 12 w 24"/>
                <a:gd name="T11" fmla="*/ 6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15"/>
                    <a:pt x="3" y="12"/>
                    <a:pt x="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5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2" name="Freeform 186">
              <a:extLst>
                <a:ext uri="{FF2B5EF4-FFF2-40B4-BE49-F238E27FC236}">
                  <a16:creationId xmlns:a16="http://schemas.microsoft.com/office/drawing/2014/main" id="{1E751B48-CC4D-1F40-983B-C219D401D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3103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3" name="Freeform 187">
              <a:extLst>
                <a:ext uri="{FF2B5EF4-FFF2-40B4-BE49-F238E27FC236}">
                  <a16:creationId xmlns:a16="http://schemas.microsoft.com/office/drawing/2014/main" id="{8DB6FE94-5527-EF45-5E02-C5B52DB78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3156"/>
              <a:ext cx="35" cy="36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0 w 24"/>
                <a:gd name="T7" fmla="*/ 6 h 24"/>
                <a:gd name="T8" fmla="*/ 6 w 24"/>
                <a:gd name="T9" fmla="*/ 0 h 24"/>
                <a:gd name="T10" fmla="*/ 12 w 24"/>
                <a:gd name="T11" fmla="*/ 6 h 24"/>
                <a:gd name="T12" fmla="*/ 12 w 24"/>
                <a:gd name="T13" fmla="*/ 12 h 24"/>
                <a:gd name="T14" fmla="*/ 18 w 24"/>
                <a:gd name="T15" fmla="*/ 12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2" y="12"/>
                    <a:pt x="24" y="15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4" name="Freeform 188">
              <a:extLst>
                <a:ext uri="{FF2B5EF4-FFF2-40B4-BE49-F238E27FC236}">
                  <a16:creationId xmlns:a16="http://schemas.microsoft.com/office/drawing/2014/main" id="{A00AA23A-5479-F6F4-607E-792595CE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3103"/>
              <a:ext cx="17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5" name="Freeform 189">
              <a:extLst>
                <a:ext uri="{FF2B5EF4-FFF2-40B4-BE49-F238E27FC236}">
                  <a16:creationId xmlns:a16="http://schemas.microsoft.com/office/drawing/2014/main" id="{55361CB0-AF2C-ED2B-8D7A-B997017AA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3050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6" name="Freeform 190">
              <a:extLst>
                <a:ext uri="{FF2B5EF4-FFF2-40B4-BE49-F238E27FC236}">
                  <a16:creationId xmlns:a16="http://schemas.microsoft.com/office/drawing/2014/main" id="{DDD842C8-36DA-CFB0-7A5E-FA3F4EBBC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5" y="3227"/>
              <a:ext cx="195" cy="195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30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30"/>
                    <a:pt x="130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7" name="Freeform 191">
              <a:extLst>
                <a:ext uri="{FF2B5EF4-FFF2-40B4-BE49-F238E27FC236}">
                  <a16:creationId xmlns:a16="http://schemas.microsoft.com/office/drawing/2014/main" id="{393F7491-E84E-AD2A-F183-A034D495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3077"/>
              <a:ext cx="161" cy="90"/>
            </a:xfrm>
            <a:custGeom>
              <a:avLst/>
              <a:gdLst>
                <a:gd name="T0" fmla="*/ 102 w 109"/>
                <a:gd name="T1" fmla="*/ 60 h 61"/>
                <a:gd name="T2" fmla="*/ 98 w 109"/>
                <a:gd name="T3" fmla="*/ 59 h 61"/>
                <a:gd name="T4" fmla="*/ 54 w 109"/>
                <a:gd name="T5" fmla="*/ 15 h 61"/>
                <a:gd name="T6" fmla="*/ 10 w 109"/>
                <a:gd name="T7" fmla="*/ 59 h 61"/>
                <a:gd name="T8" fmla="*/ 2 w 109"/>
                <a:gd name="T9" fmla="*/ 59 h 61"/>
                <a:gd name="T10" fmla="*/ 2 w 109"/>
                <a:gd name="T11" fmla="*/ 50 h 61"/>
                <a:gd name="T12" fmla="*/ 50 w 109"/>
                <a:gd name="T13" fmla="*/ 2 h 61"/>
                <a:gd name="T14" fmla="*/ 58 w 109"/>
                <a:gd name="T15" fmla="*/ 2 h 61"/>
                <a:gd name="T16" fmla="*/ 106 w 109"/>
                <a:gd name="T17" fmla="*/ 50 h 61"/>
                <a:gd name="T18" fmla="*/ 106 w 109"/>
                <a:gd name="T19" fmla="*/ 59 h 61"/>
                <a:gd name="T20" fmla="*/ 102 w 109"/>
                <a:gd name="T21" fmla="*/ 6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" h="61">
                  <a:moveTo>
                    <a:pt x="102" y="60"/>
                  </a:moveTo>
                  <a:cubicBezTo>
                    <a:pt x="101" y="60"/>
                    <a:pt x="99" y="60"/>
                    <a:pt x="98" y="59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8" y="61"/>
                    <a:pt x="4" y="61"/>
                    <a:pt x="2" y="59"/>
                  </a:cubicBezTo>
                  <a:cubicBezTo>
                    <a:pt x="0" y="56"/>
                    <a:pt x="0" y="53"/>
                    <a:pt x="2" y="50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9" y="53"/>
                    <a:pt x="109" y="56"/>
                    <a:pt x="106" y="59"/>
                  </a:cubicBezTo>
                  <a:cubicBezTo>
                    <a:pt x="105" y="60"/>
                    <a:pt x="104" y="60"/>
                    <a:pt x="102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18" name="Freeform 192">
              <a:extLst>
                <a:ext uri="{FF2B5EF4-FFF2-40B4-BE49-F238E27FC236}">
                  <a16:creationId xmlns:a16="http://schemas.microsoft.com/office/drawing/2014/main" id="{D7E6038D-4FD1-18EC-145E-7CCA756AD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3077"/>
              <a:ext cx="17" cy="292"/>
            </a:xfrm>
            <a:custGeom>
              <a:avLst/>
              <a:gdLst>
                <a:gd name="T0" fmla="*/ 6 w 12"/>
                <a:gd name="T1" fmla="*/ 198 h 198"/>
                <a:gd name="T2" fmla="*/ 0 w 12"/>
                <a:gd name="T3" fmla="*/ 192 h 198"/>
                <a:gd name="T4" fmla="*/ 0 w 12"/>
                <a:gd name="T5" fmla="*/ 6 h 198"/>
                <a:gd name="T6" fmla="*/ 6 w 12"/>
                <a:gd name="T7" fmla="*/ 0 h 198"/>
                <a:gd name="T8" fmla="*/ 12 w 12"/>
                <a:gd name="T9" fmla="*/ 6 h 198"/>
                <a:gd name="T10" fmla="*/ 12 w 12"/>
                <a:gd name="T11" fmla="*/ 192 h 198"/>
                <a:gd name="T12" fmla="*/ 6 w 12"/>
                <a:gd name="T1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8">
                  <a:moveTo>
                    <a:pt x="6" y="198"/>
                  </a:moveTo>
                  <a:cubicBezTo>
                    <a:pt x="3" y="198"/>
                    <a:pt x="0" y="196"/>
                    <a:pt x="0" y="19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92"/>
                    <a:pt x="12" y="192"/>
                    <a:pt x="12" y="192"/>
                  </a:cubicBezTo>
                  <a:cubicBezTo>
                    <a:pt x="12" y="196"/>
                    <a:pt x="10" y="198"/>
                    <a:pt x="6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71984EB8-E3F3-CF68-1B78-6A6BC325251C}"/>
              </a:ext>
            </a:extLst>
          </p:cNvPr>
          <p:cNvGrpSpPr/>
          <p:nvPr/>
        </p:nvGrpSpPr>
        <p:grpSpPr>
          <a:xfrm>
            <a:off x="4047732" y="4397910"/>
            <a:ext cx="1200029" cy="747596"/>
            <a:chOff x="837892" y="4013012"/>
            <a:chExt cx="1200029" cy="747596"/>
          </a:xfrm>
        </p:grpSpPr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C4C6724-0AB7-4FF0-E650-5B48AC485FED}"/>
                </a:ext>
              </a:extLst>
            </p:cNvPr>
            <p:cNvSpPr/>
            <p:nvPr/>
          </p:nvSpPr>
          <p:spPr>
            <a:xfrm>
              <a:off x="901937" y="4081506"/>
              <a:ext cx="106984" cy="1069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BC62EB68-BCAD-B55A-F139-3FFA74AEEEC0}"/>
                </a:ext>
              </a:extLst>
            </p:cNvPr>
            <p:cNvSpPr/>
            <p:nvPr/>
          </p:nvSpPr>
          <p:spPr>
            <a:xfrm>
              <a:off x="901937" y="4404850"/>
              <a:ext cx="106984" cy="1069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AD5B144-1321-A09B-81CA-6F10768C46A1}"/>
                </a:ext>
              </a:extLst>
            </p:cNvPr>
            <p:cNvSpPr/>
            <p:nvPr/>
          </p:nvSpPr>
          <p:spPr>
            <a:xfrm>
              <a:off x="901937" y="4243178"/>
              <a:ext cx="106984" cy="10698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B1D98AB-5466-3ED1-4070-090A387001EF}"/>
                </a:ext>
              </a:extLst>
            </p:cNvPr>
            <p:cNvSpPr/>
            <p:nvPr/>
          </p:nvSpPr>
          <p:spPr>
            <a:xfrm>
              <a:off x="901937" y="4566522"/>
              <a:ext cx="106984" cy="1069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E6F5E0C-068C-DB43-E11F-E2386F411C36}"/>
                </a:ext>
              </a:extLst>
            </p:cNvPr>
            <p:cNvSpPr/>
            <p:nvPr/>
          </p:nvSpPr>
          <p:spPr>
            <a:xfrm>
              <a:off x="837892" y="4013012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77F35D6-47A2-28F1-560B-FFF56C8A1044}"/>
                </a:ext>
              </a:extLst>
            </p:cNvPr>
            <p:cNvSpPr/>
            <p:nvPr/>
          </p:nvSpPr>
          <p:spPr>
            <a:xfrm>
              <a:off x="1223588" y="4081506"/>
              <a:ext cx="106984" cy="1069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9DD728F8-6770-4D9D-FDFB-0282AA76A066}"/>
                </a:ext>
              </a:extLst>
            </p:cNvPr>
            <p:cNvSpPr/>
            <p:nvPr/>
          </p:nvSpPr>
          <p:spPr>
            <a:xfrm>
              <a:off x="1223588" y="4404850"/>
              <a:ext cx="106984" cy="1069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D79A24C-C77C-D864-21E3-B9B83C0EC31D}"/>
                </a:ext>
              </a:extLst>
            </p:cNvPr>
            <p:cNvSpPr/>
            <p:nvPr/>
          </p:nvSpPr>
          <p:spPr>
            <a:xfrm>
              <a:off x="1223588" y="4243178"/>
              <a:ext cx="106984" cy="10698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6CCA02AE-D99B-CD0D-B922-7ABE2F9BB665}"/>
                </a:ext>
              </a:extLst>
            </p:cNvPr>
            <p:cNvSpPr/>
            <p:nvPr/>
          </p:nvSpPr>
          <p:spPr>
            <a:xfrm>
              <a:off x="1223588" y="4566522"/>
              <a:ext cx="106984" cy="1069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E6839184-7950-D5A2-A392-F4E164E7960C}"/>
                </a:ext>
              </a:extLst>
            </p:cNvPr>
            <p:cNvSpPr/>
            <p:nvPr/>
          </p:nvSpPr>
          <p:spPr>
            <a:xfrm>
              <a:off x="1159543" y="4013012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B829CEFF-FF2A-E94F-9B76-2BA6B40B9A4C}"/>
                </a:ext>
              </a:extLst>
            </p:cNvPr>
            <p:cNvSpPr/>
            <p:nvPr/>
          </p:nvSpPr>
          <p:spPr>
            <a:xfrm>
              <a:off x="1545239" y="4081506"/>
              <a:ext cx="106984" cy="1069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ABAB1762-2ACC-9532-F4E7-17BFC1458918}"/>
                </a:ext>
              </a:extLst>
            </p:cNvPr>
            <p:cNvSpPr/>
            <p:nvPr/>
          </p:nvSpPr>
          <p:spPr>
            <a:xfrm>
              <a:off x="1545239" y="4404850"/>
              <a:ext cx="106984" cy="1069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BC76C62C-AF44-EEB6-BFDA-C049439E6141}"/>
                </a:ext>
              </a:extLst>
            </p:cNvPr>
            <p:cNvSpPr/>
            <p:nvPr/>
          </p:nvSpPr>
          <p:spPr>
            <a:xfrm>
              <a:off x="1545239" y="4243178"/>
              <a:ext cx="106984" cy="10698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7DD1993-426F-95A0-435E-19FB35AC7CB7}"/>
                </a:ext>
              </a:extLst>
            </p:cNvPr>
            <p:cNvSpPr/>
            <p:nvPr/>
          </p:nvSpPr>
          <p:spPr>
            <a:xfrm>
              <a:off x="1545239" y="4566522"/>
              <a:ext cx="106984" cy="1069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17FB0D67-9D9A-BB71-0C01-A10BC1C671E9}"/>
                </a:ext>
              </a:extLst>
            </p:cNvPr>
            <p:cNvSpPr/>
            <p:nvPr/>
          </p:nvSpPr>
          <p:spPr>
            <a:xfrm>
              <a:off x="1481194" y="4013012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EC3480B7-FB93-BA7D-A78C-740891C3F607}"/>
                </a:ext>
              </a:extLst>
            </p:cNvPr>
            <p:cNvSpPr/>
            <p:nvPr/>
          </p:nvSpPr>
          <p:spPr>
            <a:xfrm>
              <a:off x="1866891" y="4081506"/>
              <a:ext cx="106984" cy="1069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C315A0F0-A4BE-5FBD-5457-E9D08110C491}"/>
                </a:ext>
              </a:extLst>
            </p:cNvPr>
            <p:cNvSpPr/>
            <p:nvPr/>
          </p:nvSpPr>
          <p:spPr>
            <a:xfrm>
              <a:off x="1866891" y="4404850"/>
              <a:ext cx="106984" cy="10698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B0F8ED21-24EC-0FC0-CAD0-73E07D344C2B}"/>
                </a:ext>
              </a:extLst>
            </p:cNvPr>
            <p:cNvSpPr/>
            <p:nvPr/>
          </p:nvSpPr>
          <p:spPr>
            <a:xfrm>
              <a:off x="1866891" y="4243178"/>
              <a:ext cx="106984" cy="10698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5CD7150F-7E0D-23DF-74B2-A70FD06CC51D}"/>
                </a:ext>
              </a:extLst>
            </p:cNvPr>
            <p:cNvSpPr/>
            <p:nvPr/>
          </p:nvSpPr>
          <p:spPr>
            <a:xfrm>
              <a:off x="1866891" y="4566522"/>
              <a:ext cx="106984" cy="1069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4CC9A3C-BEB5-0CF4-5CE0-E739E797A606}"/>
                </a:ext>
              </a:extLst>
            </p:cNvPr>
            <p:cNvSpPr/>
            <p:nvPr/>
          </p:nvSpPr>
          <p:spPr>
            <a:xfrm>
              <a:off x="1802846" y="4013012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25E9E4F8-51D8-E1F3-5FD1-1FBAB10D8CBA}"/>
              </a:ext>
            </a:extLst>
          </p:cNvPr>
          <p:cNvGrpSpPr/>
          <p:nvPr/>
        </p:nvGrpSpPr>
        <p:grpSpPr>
          <a:xfrm rot="5400000">
            <a:off x="1427591" y="4713969"/>
            <a:ext cx="235075" cy="747596"/>
            <a:chOff x="692527" y="2825818"/>
            <a:chExt cx="235075" cy="747596"/>
          </a:xfrm>
        </p:grpSpPr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B24AC827-9E21-7346-4BE0-2354E74324C1}"/>
                </a:ext>
              </a:extLst>
            </p:cNvPr>
            <p:cNvSpPr/>
            <p:nvPr/>
          </p:nvSpPr>
          <p:spPr>
            <a:xfrm>
              <a:off x="756572" y="2894312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D63018DD-5A13-5D08-39B1-0D4147CB8127}"/>
                </a:ext>
              </a:extLst>
            </p:cNvPr>
            <p:cNvSpPr/>
            <p:nvPr/>
          </p:nvSpPr>
          <p:spPr>
            <a:xfrm>
              <a:off x="756572" y="321765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B0E542E2-EBFE-B38C-E342-01DC6074FDAA}"/>
                </a:ext>
              </a:extLst>
            </p:cNvPr>
            <p:cNvSpPr/>
            <p:nvPr/>
          </p:nvSpPr>
          <p:spPr>
            <a:xfrm>
              <a:off x="756572" y="3055984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78A3C68D-88C0-4892-45AB-CA44B122DE1E}"/>
                </a:ext>
              </a:extLst>
            </p:cNvPr>
            <p:cNvSpPr/>
            <p:nvPr/>
          </p:nvSpPr>
          <p:spPr>
            <a:xfrm>
              <a:off x="756572" y="3379328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A34CAAD4-120E-3554-C49B-3830BB125DFA}"/>
                </a:ext>
              </a:extLst>
            </p:cNvPr>
            <p:cNvSpPr/>
            <p:nvPr/>
          </p:nvSpPr>
          <p:spPr>
            <a:xfrm>
              <a:off x="692527" y="2825818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D1998D2F-7756-147E-6E77-0CD84A4AA8D7}"/>
              </a:ext>
            </a:extLst>
          </p:cNvPr>
          <p:cNvGrpSpPr/>
          <p:nvPr/>
        </p:nvGrpSpPr>
        <p:grpSpPr>
          <a:xfrm rot="5400000">
            <a:off x="1427591" y="5054760"/>
            <a:ext cx="235075" cy="747596"/>
            <a:chOff x="1014178" y="2825818"/>
            <a:chExt cx="235075" cy="747596"/>
          </a:xfrm>
        </p:grpSpPr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20B73B09-77B9-106E-5E33-9F9F84A73FEA}"/>
                </a:ext>
              </a:extLst>
            </p:cNvPr>
            <p:cNvSpPr/>
            <p:nvPr/>
          </p:nvSpPr>
          <p:spPr>
            <a:xfrm>
              <a:off x="1078223" y="2894312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66107387-6B91-CDF9-F441-3C1CD29B96F8}"/>
                </a:ext>
              </a:extLst>
            </p:cNvPr>
            <p:cNvSpPr/>
            <p:nvPr/>
          </p:nvSpPr>
          <p:spPr>
            <a:xfrm>
              <a:off x="1078223" y="321765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B391AA01-2D92-4086-6B85-7884C3971D1C}"/>
                </a:ext>
              </a:extLst>
            </p:cNvPr>
            <p:cNvSpPr/>
            <p:nvPr/>
          </p:nvSpPr>
          <p:spPr>
            <a:xfrm>
              <a:off x="1078223" y="3055984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F2A8E570-B42A-7129-C178-B8C029221B35}"/>
                </a:ext>
              </a:extLst>
            </p:cNvPr>
            <p:cNvSpPr/>
            <p:nvPr/>
          </p:nvSpPr>
          <p:spPr>
            <a:xfrm>
              <a:off x="1078223" y="3379328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3197F7D6-91A2-6775-57A0-EF05DE75F340}"/>
                </a:ext>
              </a:extLst>
            </p:cNvPr>
            <p:cNvSpPr/>
            <p:nvPr/>
          </p:nvSpPr>
          <p:spPr>
            <a:xfrm>
              <a:off x="1014178" y="2825818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5FC86503-F8D9-E3D5-EA0D-CFA7D1666930}"/>
              </a:ext>
            </a:extLst>
          </p:cNvPr>
          <p:cNvGrpSpPr/>
          <p:nvPr/>
        </p:nvGrpSpPr>
        <p:grpSpPr>
          <a:xfrm rot="5400000">
            <a:off x="2261764" y="5054760"/>
            <a:ext cx="235075" cy="747596"/>
            <a:chOff x="1335829" y="2825818"/>
            <a:chExt cx="235075" cy="747596"/>
          </a:xfrm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DAC20D83-D805-4F71-3B47-12DA4374AD08}"/>
                </a:ext>
              </a:extLst>
            </p:cNvPr>
            <p:cNvSpPr/>
            <p:nvPr/>
          </p:nvSpPr>
          <p:spPr>
            <a:xfrm>
              <a:off x="1399874" y="2894312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93632C39-5DB3-89CC-35B3-413305305147}"/>
                </a:ext>
              </a:extLst>
            </p:cNvPr>
            <p:cNvSpPr/>
            <p:nvPr/>
          </p:nvSpPr>
          <p:spPr>
            <a:xfrm>
              <a:off x="1399874" y="321765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0BFC0B54-33BA-5694-1886-677C83368C08}"/>
                </a:ext>
              </a:extLst>
            </p:cNvPr>
            <p:cNvSpPr/>
            <p:nvPr/>
          </p:nvSpPr>
          <p:spPr>
            <a:xfrm>
              <a:off x="1399874" y="3055984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6BE66900-57DE-A5BA-0B04-5021CFCE9AF6}"/>
                </a:ext>
              </a:extLst>
            </p:cNvPr>
            <p:cNvSpPr/>
            <p:nvPr/>
          </p:nvSpPr>
          <p:spPr>
            <a:xfrm>
              <a:off x="1399874" y="3379328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7A398CA6-F763-FEF5-06A4-77948C4D071A}"/>
                </a:ext>
              </a:extLst>
            </p:cNvPr>
            <p:cNvSpPr/>
            <p:nvPr/>
          </p:nvSpPr>
          <p:spPr>
            <a:xfrm>
              <a:off x="1335829" y="2825818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5AFBE724-D877-045E-6D68-12F111909E9D}"/>
              </a:ext>
            </a:extLst>
          </p:cNvPr>
          <p:cNvGrpSpPr/>
          <p:nvPr/>
        </p:nvGrpSpPr>
        <p:grpSpPr>
          <a:xfrm rot="5400000">
            <a:off x="2261764" y="4713969"/>
            <a:ext cx="235075" cy="747596"/>
            <a:chOff x="1657481" y="2825818"/>
            <a:chExt cx="235075" cy="747596"/>
          </a:xfrm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EBC08EC3-95AA-3A8D-1042-64B022914318}"/>
                </a:ext>
              </a:extLst>
            </p:cNvPr>
            <p:cNvSpPr/>
            <p:nvPr/>
          </p:nvSpPr>
          <p:spPr>
            <a:xfrm>
              <a:off x="1721526" y="2894312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16662EB7-2362-6DDB-4F8F-5C7B55EB35AB}"/>
                </a:ext>
              </a:extLst>
            </p:cNvPr>
            <p:cNvSpPr/>
            <p:nvPr/>
          </p:nvSpPr>
          <p:spPr>
            <a:xfrm>
              <a:off x="1721526" y="321765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0804E74F-85D4-9EA7-C955-5A643711128D}"/>
                </a:ext>
              </a:extLst>
            </p:cNvPr>
            <p:cNvSpPr/>
            <p:nvPr/>
          </p:nvSpPr>
          <p:spPr>
            <a:xfrm>
              <a:off x="1721526" y="3055984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7B31E605-2F66-1BD3-76FA-2CD2089799AA}"/>
                </a:ext>
              </a:extLst>
            </p:cNvPr>
            <p:cNvSpPr/>
            <p:nvPr/>
          </p:nvSpPr>
          <p:spPr>
            <a:xfrm>
              <a:off x="1721526" y="3379328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E2DDF5C4-B843-C69D-A3E1-DA609A6F1399}"/>
                </a:ext>
              </a:extLst>
            </p:cNvPr>
            <p:cNvSpPr/>
            <p:nvPr/>
          </p:nvSpPr>
          <p:spPr>
            <a:xfrm>
              <a:off x="1657481" y="2825818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2D8D74F5-828D-81E8-AD98-E62E8288A6FD}"/>
              </a:ext>
            </a:extLst>
          </p:cNvPr>
          <p:cNvGrpSpPr/>
          <p:nvPr/>
        </p:nvGrpSpPr>
        <p:grpSpPr>
          <a:xfrm>
            <a:off x="6604680" y="4397910"/>
            <a:ext cx="1457194" cy="747596"/>
            <a:chOff x="709309" y="5236646"/>
            <a:chExt cx="1457194" cy="747596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4048A3CC-FF7E-DC8D-E4C4-C6817EC12E62}"/>
                </a:ext>
              </a:extLst>
            </p:cNvPr>
            <p:cNvSpPr/>
            <p:nvPr/>
          </p:nvSpPr>
          <p:spPr>
            <a:xfrm>
              <a:off x="896202" y="5288473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2CF28AB1-BEDA-CA06-9D2D-5367FEA2E186}"/>
                </a:ext>
              </a:extLst>
            </p:cNvPr>
            <p:cNvSpPr/>
            <p:nvPr/>
          </p:nvSpPr>
          <p:spPr>
            <a:xfrm>
              <a:off x="896202" y="5635625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383160E4-B8FA-C6F4-71E7-9B4A780ADE4E}"/>
                </a:ext>
              </a:extLst>
            </p:cNvPr>
            <p:cNvSpPr/>
            <p:nvPr/>
          </p:nvSpPr>
          <p:spPr>
            <a:xfrm>
              <a:off x="896202" y="5462049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1785ECA5-DB0A-0DFD-F54E-392520844944}"/>
                </a:ext>
              </a:extLst>
            </p:cNvPr>
            <p:cNvSpPr/>
            <p:nvPr/>
          </p:nvSpPr>
          <p:spPr>
            <a:xfrm>
              <a:off x="896202" y="582031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733724F-CE8E-DAEC-6AA1-06274E8C660A}"/>
                </a:ext>
              </a:extLst>
            </p:cNvPr>
            <p:cNvSpPr/>
            <p:nvPr/>
          </p:nvSpPr>
          <p:spPr>
            <a:xfrm>
              <a:off x="832157" y="5236646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5C035FC-E3AE-9BB6-39D4-DC6027179252}"/>
                </a:ext>
              </a:extLst>
            </p:cNvPr>
            <p:cNvSpPr/>
            <p:nvPr/>
          </p:nvSpPr>
          <p:spPr>
            <a:xfrm>
              <a:off x="1217853" y="5288473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28C6D892-B232-1B8F-3F31-FB76028E3101}"/>
                </a:ext>
              </a:extLst>
            </p:cNvPr>
            <p:cNvSpPr/>
            <p:nvPr/>
          </p:nvSpPr>
          <p:spPr>
            <a:xfrm>
              <a:off x="1217853" y="5635625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12DD1BC1-27D8-FF92-23A1-8CAB47A2A3BB}"/>
                </a:ext>
              </a:extLst>
            </p:cNvPr>
            <p:cNvSpPr/>
            <p:nvPr/>
          </p:nvSpPr>
          <p:spPr>
            <a:xfrm>
              <a:off x="1217853" y="5462049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D2866CE1-3ADD-A574-C970-35ACF417B88C}"/>
                </a:ext>
              </a:extLst>
            </p:cNvPr>
            <p:cNvSpPr/>
            <p:nvPr/>
          </p:nvSpPr>
          <p:spPr>
            <a:xfrm>
              <a:off x="1217853" y="582031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FAFB7D21-FDE4-3EB6-76C5-117937A29149}"/>
                </a:ext>
              </a:extLst>
            </p:cNvPr>
            <p:cNvSpPr/>
            <p:nvPr/>
          </p:nvSpPr>
          <p:spPr>
            <a:xfrm>
              <a:off x="1153808" y="5236646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766D7400-59F5-7EBE-1501-150C3576D44E}"/>
                </a:ext>
              </a:extLst>
            </p:cNvPr>
            <p:cNvSpPr/>
            <p:nvPr/>
          </p:nvSpPr>
          <p:spPr>
            <a:xfrm>
              <a:off x="1539504" y="5288473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321BB0B2-5125-F2F0-50F1-4590ECF355D9}"/>
                </a:ext>
              </a:extLst>
            </p:cNvPr>
            <p:cNvSpPr/>
            <p:nvPr/>
          </p:nvSpPr>
          <p:spPr>
            <a:xfrm>
              <a:off x="1539504" y="5635625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1C5F4146-081B-75E1-1FA3-743DE82C57E0}"/>
                </a:ext>
              </a:extLst>
            </p:cNvPr>
            <p:cNvSpPr/>
            <p:nvPr/>
          </p:nvSpPr>
          <p:spPr>
            <a:xfrm>
              <a:off x="1539504" y="5462049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EFCD7B3B-021C-A9A8-FCCC-9DFBBF889F25}"/>
                </a:ext>
              </a:extLst>
            </p:cNvPr>
            <p:cNvSpPr/>
            <p:nvPr/>
          </p:nvSpPr>
          <p:spPr>
            <a:xfrm>
              <a:off x="1539504" y="582031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19150177-9A8B-5D51-2995-9D9C0D6C17A8}"/>
                </a:ext>
              </a:extLst>
            </p:cNvPr>
            <p:cNvSpPr/>
            <p:nvPr/>
          </p:nvSpPr>
          <p:spPr>
            <a:xfrm>
              <a:off x="1475459" y="5236646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23EEF99A-3831-FBA8-B695-FA744C51A706}"/>
                </a:ext>
              </a:extLst>
            </p:cNvPr>
            <p:cNvSpPr/>
            <p:nvPr/>
          </p:nvSpPr>
          <p:spPr>
            <a:xfrm>
              <a:off x="1861156" y="5288473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02CAF62D-C0A3-0F73-0206-2E489B546496}"/>
                </a:ext>
              </a:extLst>
            </p:cNvPr>
            <p:cNvSpPr/>
            <p:nvPr/>
          </p:nvSpPr>
          <p:spPr>
            <a:xfrm>
              <a:off x="1861156" y="5622132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95D9222B-2D6F-FBBD-15FF-CCA7E2BC9566}"/>
                </a:ext>
              </a:extLst>
            </p:cNvPr>
            <p:cNvSpPr/>
            <p:nvPr/>
          </p:nvSpPr>
          <p:spPr>
            <a:xfrm>
              <a:off x="1861156" y="5455302"/>
              <a:ext cx="106984" cy="10698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4508BF17-9149-089B-EC80-70D73BF93218}"/>
                </a:ext>
              </a:extLst>
            </p:cNvPr>
            <p:cNvSpPr/>
            <p:nvPr/>
          </p:nvSpPr>
          <p:spPr>
            <a:xfrm>
              <a:off x="1861156" y="5820316"/>
              <a:ext cx="106984" cy="1069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896B5125-A384-23D9-AA21-584ED14F888F}"/>
                </a:ext>
              </a:extLst>
            </p:cNvPr>
            <p:cNvSpPr/>
            <p:nvPr/>
          </p:nvSpPr>
          <p:spPr>
            <a:xfrm>
              <a:off x="1797111" y="5236646"/>
              <a:ext cx="235075" cy="747596"/>
            </a:xfrm>
            <a:prstGeom prst="rect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/>
                <a:ea typeface="+mn-ea"/>
                <a:cs typeface="+mn-cs"/>
              </a:endParaRPr>
            </a:p>
          </p:txBody>
        </p: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A87496-3B64-8187-C6DD-11766B7CFAEF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9" y="5781894"/>
              <a:ext cx="1457194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44" name="Freeform 29">
            <a:extLst>
              <a:ext uri="{FF2B5EF4-FFF2-40B4-BE49-F238E27FC236}">
                <a16:creationId xmlns:a16="http://schemas.microsoft.com/office/drawing/2014/main" id="{E4771EEC-233C-A17C-7107-E7063F9F6325}"/>
              </a:ext>
            </a:extLst>
          </p:cNvPr>
          <p:cNvSpPr>
            <a:spLocks noEditPoints="1"/>
          </p:cNvSpPr>
          <p:nvPr/>
        </p:nvSpPr>
        <p:spPr bwMode="auto">
          <a:xfrm>
            <a:off x="10676201" y="226442"/>
            <a:ext cx="194458" cy="261452"/>
          </a:xfrm>
          <a:custGeom>
            <a:avLst/>
            <a:gdLst>
              <a:gd name="T0" fmla="*/ 211 w 214"/>
              <a:gd name="T1" fmla="*/ 90 h 295"/>
              <a:gd name="T2" fmla="*/ 185 w 214"/>
              <a:gd name="T3" fmla="*/ 73 h 295"/>
              <a:gd name="T4" fmla="*/ 170 w 214"/>
              <a:gd name="T5" fmla="*/ 46 h 295"/>
              <a:gd name="T6" fmla="*/ 129 w 214"/>
              <a:gd name="T7" fmla="*/ 6 h 295"/>
              <a:gd name="T8" fmla="*/ 123 w 214"/>
              <a:gd name="T9" fmla="*/ 0 h 295"/>
              <a:gd name="T10" fmla="*/ 99 w 214"/>
              <a:gd name="T11" fmla="*/ 14 h 295"/>
              <a:gd name="T12" fmla="*/ 81 w 214"/>
              <a:gd name="T13" fmla="*/ 27 h 295"/>
              <a:gd name="T14" fmla="*/ 38 w 214"/>
              <a:gd name="T15" fmla="*/ 67 h 295"/>
              <a:gd name="T16" fmla="*/ 18 w 214"/>
              <a:gd name="T17" fmla="*/ 116 h 295"/>
              <a:gd name="T18" fmla="*/ 16 w 214"/>
              <a:gd name="T19" fmla="*/ 154 h 295"/>
              <a:gd name="T20" fmla="*/ 23 w 214"/>
              <a:gd name="T21" fmla="*/ 206 h 295"/>
              <a:gd name="T22" fmla="*/ 17 w 214"/>
              <a:gd name="T23" fmla="*/ 212 h 295"/>
              <a:gd name="T24" fmla="*/ 0 w 214"/>
              <a:gd name="T25" fmla="*/ 251 h 295"/>
              <a:gd name="T26" fmla="*/ 6 w 214"/>
              <a:gd name="T27" fmla="*/ 295 h 295"/>
              <a:gd name="T28" fmla="*/ 197 w 214"/>
              <a:gd name="T29" fmla="*/ 289 h 295"/>
              <a:gd name="T30" fmla="*/ 182 w 214"/>
              <a:gd name="T31" fmla="*/ 213 h 295"/>
              <a:gd name="T32" fmla="*/ 175 w 214"/>
              <a:gd name="T33" fmla="*/ 206 h 295"/>
              <a:gd name="T34" fmla="*/ 174 w 214"/>
              <a:gd name="T35" fmla="*/ 205 h 295"/>
              <a:gd name="T36" fmla="*/ 167 w 214"/>
              <a:gd name="T37" fmla="*/ 183 h 295"/>
              <a:gd name="T38" fmla="*/ 132 w 214"/>
              <a:gd name="T39" fmla="*/ 116 h 295"/>
              <a:gd name="T40" fmla="*/ 170 w 214"/>
              <a:gd name="T41" fmla="*/ 126 h 295"/>
              <a:gd name="T42" fmla="*/ 193 w 214"/>
              <a:gd name="T43" fmla="*/ 131 h 295"/>
              <a:gd name="T44" fmla="*/ 213 w 214"/>
              <a:gd name="T45" fmla="*/ 97 h 295"/>
              <a:gd name="T46" fmla="*/ 185 w 214"/>
              <a:gd name="T47" fmla="*/ 243 h 295"/>
              <a:gd name="T48" fmla="*/ 186 w 214"/>
              <a:gd name="T49" fmla="*/ 284 h 295"/>
              <a:gd name="T50" fmla="*/ 12 w 214"/>
              <a:gd name="T51" fmla="*/ 251 h 295"/>
              <a:gd name="T52" fmla="*/ 13 w 214"/>
              <a:gd name="T53" fmla="*/ 242 h 295"/>
              <a:gd name="T54" fmla="*/ 104 w 214"/>
              <a:gd name="T55" fmla="*/ 242 h 295"/>
              <a:gd name="T56" fmla="*/ 104 w 214"/>
              <a:gd name="T57" fmla="*/ 242 h 295"/>
              <a:gd name="T58" fmla="*/ 171 w 214"/>
              <a:gd name="T59" fmla="*/ 219 h 295"/>
              <a:gd name="T60" fmla="*/ 173 w 214"/>
              <a:gd name="T61" fmla="*/ 220 h 295"/>
              <a:gd name="T62" fmla="*/ 180 w 214"/>
              <a:gd name="T63" fmla="*/ 231 h 295"/>
              <a:gd name="T64" fmla="*/ 104 w 214"/>
              <a:gd name="T65" fmla="*/ 231 h 295"/>
              <a:gd name="T66" fmla="*/ 104 w 214"/>
              <a:gd name="T67" fmla="*/ 231 h 295"/>
              <a:gd name="T68" fmla="*/ 18 w 214"/>
              <a:gd name="T69" fmla="*/ 231 h 295"/>
              <a:gd name="T70" fmla="*/ 25 w 214"/>
              <a:gd name="T71" fmla="*/ 220 h 295"/>
              <a:gd name="T72" fmla="*/ 26 w 214"/>
              <a:gd name="T73" fmla="*/ 219 h 295"/>
              <a:gd name="T74" fmla="*/ 166 w 214"/>
              <a:gd name="T75" fmla="*/ 214 h 295"/>
              <a:gd name="T76" fmla="*/ 191 w 214"/>
              <a:gd name="T77" fmla="*/ 118 h 295"/>
              <a:gd name="T78" fmla="*/ 180 w 214"/>
              <a:gd name="T79" fmla="*/ 116 h 295"/>
              <a:gd name="T80" fmla="*/ 122 w 214"/>
              <a:gd name="T81" fmla="*/ 100 h 295"/>
              <a:gd name="T82" fmla="*/ 112 w 214"/>
              <a:gd name="T83" fmla="*/ 106 h 295"/>
              <a:gd name="T84" fmla="*/ 162 w 214"/>
              <a:gd name="T85" fmla="*/ 202 h 295"/>
              <a:gd name="T86" fmla="*/ 33 w 214"/>
              <a:gd name="T87" fmla="*/ 202 h 295"/>
              <a:gd name="T88" fmla="*/ 27 w 214"/>
              <a:gd name="T89" fmla="*/ 153 h 295"/>
              <a:gd name="T90" fmla="*/ 31 w 214"/>
              <a:gd name="T91" fmla="*/ 113 h 295"/>
              <a:gd name="T92" fmla="*/ 49 w 214"/>
              <a:gd name="T93" fmla="*/ 72 h 295"/>
              <a:gd name="T94" fmla="*/ 109 w 214"/>
              <a:gd name="T95" fmla="*/ 21 h 295"/>
              <a:gd name="T96" fmla="*/ 117 w 214"/>
              <a:gd name="T97" fmla="*/ 16 h 295"/>
              <a:gd name="T98" fmla="*/ 120 w 214"/>
              <a:gd name="T99" fmla="*/ 40 h 295"/>
              <a:gd name="T100" fmla="*/ 176 w 214"/>
              <a:gd name="T101" fmla="*/ 79 h 295"/>
              <a:gd name="T102" fmla="*/ 200 w 214"/>
              <a:gd name="T103" fmla="*/ 97 h 295"/>
              <a:gd name="T104" fmla="*/ 191 w 214"/>
              <a:gd name="T105" fmla="*/ 11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14" h="295">
                <a:moveTo>
                  <a:pt x="213" y="97"/>
                </a:moveTo>
                <a:cubicBezTo>
                  <a:pt x="214" y="94"/>
                  <a:pt x="213" y="91"/>
                  <a:pt x="211" y="90"/>
                </a:cubicBezTo>
                <a:cubicBezTo>
                  <a:pt x="185" y="73"/>
                  <a:pt x="185" y="73"/>
                  <a:pt x="185" y="73"/>
                </a:cubicBezTo>
                <a:cubicBezTo>
                  <a:pt x="185" y="73"/>
                  <a:pt x="185" y="73"/>
                  <a:pt x="185" y="73"/>
                </a:cubicBezTo>
                <a:cubicBezTo>
                  <a:pt x="174" y="49"/>
                  <a:pt x="174" y="49"/>
                  <a:pt x="174" y="49"/>
                </a:cubicBezTo>
                <a:cubicBezTo>
                  <a:pt x="173" y="47"/>
                  <a:pt x="172" y="46"/>
                  <a:pt x="170" y="46"/>
                </a:cubicBezTo>
                <a:cubicBezTo>
                  <a:pt x="128" y="31"/>
                  <a:pt x="128" y="31"/>
                  <a:pt x="128" y="31"/>
                </a:cubicBezTo>
                <a:cubicBezTo>
                  <a:pt x="129" y="6"/>
                  <a:pt x="129" y="6"/>
                  <a:pt x="129" y="6"/>
                </a:cubicBezTo>
                <a:cubicBezTo>
                  <a:pt x="129" y="4"/>
                  <a:pt x="128" y="2"/>
                  <a:pt x="126" y="1"/>
                </a:cubicBezTo>
                <a:cubicBezTo>
                  <a:pt x="125" y="0"/>
                  <a:pt x="124" y="0"/>
                  <a:pt x="123" y="0"/>
                </a:cubicBezTo>
                <a:cubicBezTo>
                  <a:pt x="122" y="0"/>
                  <a:pt x="121" y="0"/>
                  <a:pt x="120" y="1"/>
                </a:cubicBezTo>
                <a:cubicBezTo>
                  <a:pt x="119" y="2"/>
                  <a:pt x="110" y="7"/>
                  <a:pt x="99" y="14"/>
                </a:cubicBezTo>
                <a:cubicBezTo>
                  <a:pt x="95" y="17"/>
                  <a:pt x="92" y="19"/>
                  <a:pt x="88" y="22"/>
                </a:cubicBezTo>
                <a:cubicBezTo>
                  <a:pt x="86" y="23"/>
                  <a:pt x="84" y="25"/>
                  <a:pt x="81" y="27"/>
                </a:cubicBezTo>
                <a:cubicBezTo>
                  <a:pt x="70" y="35"/>
                  <a:pt x="61" y="42"/>
                  <a:pt x="54" y="49"/>
                </a:cubicBezTo>
                <a:cubicBezTo>
                  <a:pt x="46" y="56"/>
                  <a:pt x="41" y="62"/>
                  <a:pt x="38" y="67"/>
                </a:cubicBezTo>
                <a:cubicBezTo>
                  <a:pt x="37" y="69"/>
                  <a:pt x="36" y="71"/>
                  <a:pt x="35" y="73"/>
                </a:cubicBezTo>
                <a:cubicBezTo>
                  <a:pt x="29" y="86"/>
                  <a:pt x="22" y="99"/>
                  <a:pt x="18" y="116"/>
                </a:cubicBezTo>
                <a:cubicBezTo>
                  <a:pt x="17" y="120"/>
                  <a:pt x="17" y="124"/>
                  <a:pt x="16" y="128"/>
                </a:cubicBezTo>
                <a:cubicBezTo>
                  <a:pt x="15" y="137"/>
                  <a:pt x="15" y="145"/>
                  <a:pt x="16" y="154"/>
                </a:cubicBezTo>
                <a:cubicBezTo>
                  <a:pt x="18" y="182"/>
                  <a:pt x="21" y="199"/>
                  <a:pt x="22" y="206"/>
                </a:cubicBezTo>
                <a:cubicBezTo>
                  <a:pt x="23" y="206"/>
                  <a:pt x="23" y="206"/>
                  <a:pt x="23" y="206"/>
                </a:cubicBezTo>
                <a:cubicBezTo>
                  <a:pt x="22" y="206"/>
                  <a:pt x="22" y="206"/>
                  <a:pt x="22" y="206"/>
                </a:cubicBezTo>
                <a:cubicBezTo>
                  <a:pt x="20" y="208"/>
                  <a:pt x="19" y="210"/>
                  <a:pt x="17" y="212"/>
                </a:cubicBezTo>
                <a:cubicBezTo>
                  <a:pt x="16" y="213"/>
                  <a:pt x="16" y="213"/>
                  <a:pt x="16" y="213"/>
                </a:cubicBezTo>
                <a:cubicBezTo>
                  <a:pt x="9" y="222"/>
                  <a:pt x="0" y="236"/>
                  <a:pt x="0" y="251"/>
                </a:cubicBezTo>
                <a:cubicBezTo>
                  <a:pt x="0" y="289"/>
                  <a:pt x="0" y="289"/>
                  <a:pt x="0" y="289"/>
                </a:cubicBezTo>
                <a:cubicBezTo>
                  <a:pt x="0" y="293"/>
                  <a:pt x="3" y="295"/>
                  <a:pt x="6" y="295"/>
                </a:cubicBezTo>
                <a:cubicBezTo>
                  <a:pt x="192" y="295"/>
                  <a:pt x="192" y="295"/>
                  <a:pt x="192" y="295"/>
                </a:cubicBezTo>
                <a:cubicBezTo>
                  <a:pt x="195" y="295"/>
                  <a:pt x="197" y="293"/>
                  <a:pt x="197" y="289"/>
                </a:cubicBezTo>
                <a:cubicBezTo>
                  <a:pt x="197" y="251"/>
                  <a:pt x="197" y="251"/>
                  <a:pt x="197" y="251"/>
                </a:cubicBezTo>
                <a:cubicBezTo>
                  <a:pt x="197" y="236"/>
                  <a:pt x="189" y="222"/>
                  <a:pt x="182" y="213"/>
                </a:cubicBezTo>
                <a:cubicBezTo>
                  <a:pt x="181" y="213"/>
                  <a:pt x="181" y="213"/>
                  <a:pt x="181" y="212"/>
                </a:cubicBezTo>
                <a:cubicBezTo>
                  <a:pt x="179" y="210"/>
                  <a:pt x="177" y="208"/>
                  <a:pt x="175" y="206"/>
                </a:cubicBezTo>
                <a:cubicBezTo>
                  <a:pt x="175" y="206"/>
                  <a:pt x="175" y="206"/>
                  <a:pt x="174" y="205"/>
                </a:cubicBezTo>
                <a:cubicBezTo>
                  <a:pt x="174" y="205"/>
                  <a:pt x="174" y="205"/>
                  <a:pt x="174" y="205"/>
                </a:cubicBezTo>
                <a:cubicBezTo>
                  <a:pt x="174" y="205"/>
                  <a:pt x="174" y="205"/>
                  <a:pt x="174" y="205"/>
                </a:cubicBezTo>
                <a:cubicBezTo>
                  <a:pt x="173" y="199"/>
                  <a:pt x="171" y="191"/>
                  <a:pt x="167" y="183"/>
                </a:cubicBezTo>
                <a:cubicBezTo>
                  <a:pt x="158" y="160"/>
                  <a:pt x="144" y="135"/>
                  <a:pt x="133" y="117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4" y="116"/>
                  <a:pt x="134" y="116"/>
                  <a:pt x="134" y="116"/>
                </a:cubicBezTo>
                <a:cubicBezTo>
                  <a:pt x="143" y="119"/>
                  <a:pt x="155" y="122"/>
                  <a:pt x="170" y="126"/>
                </a:cubicBezTo>
                <a:cubicBezTo>
                  <a:pt x="174" y="126"/>
                  <a:pt x="178" y="127"/>
                  <a:pt x="182" y="128"/>
                </a:cubicBezTo>
                <a:cubicBezTo>
                  <a:pt x="186" y="129"/>
                  <a:pt x="190" y="130"/>
                  <a:pt x="193" y="131"/>
                </a:cubicBezTo>
                <a:cubicBezTo>
                  <a:pt x="196" y="131"/>
                  <a:pt x="199" y="130"/>
                  <a:pt x="200" y="127"/>
                </a:cubicBezTo>
                <a:lnTo>
                  <a:pt x="213" y="97"/>
                </a:lnTo>
                <a:close/>
                <a:moveTo>
                  <a:pt x="185" y="242"/>
                </a:moveTo>
                <a:cubicBezTo>
                  <a:pt x="185" y="243"/>
                  <a:pt x="185" y="243"/>
                  <a:pt x="185" y="243"/>
                </a:cubicBezTo>
                <a:cubicBezTo>
                  <a:pt x="186" y="246"/>
                  <a:pt x="186" y="248"/>
                  <a:pt x="186" y="251"/>
                </a:cubicBezTo>
                <a:cubicBezTo>
                  <a:pt x="186" y="284"/>
                  <a:pt x="186" y="284"/>
                  <a:pt x="186" y="284"/>
                </a:cubicBezTo>
                <a:cubicBezTo>
                  <a:pt x="12" y="284"/>
                  <a:pt x="12" y="284"/>
                  <a:pt x="12" y="284"/>
                </a:cubicBezTo>
                <a:cubicBezTo>
                  <a:pt x="12" y="251"/>
                  <a:pt x="12" y="251"/>
                  <a:pt x="12" y="251"/>
                </a:cubicBezTo>
                <a:cubicBezTo>
                  <a:pt x="12" y="248"/>
                  <a:pt x="12" y="246"/>
                  <a:pt x="13" y="243"/>
                </a:cubicBezTo>
                <a:cubicBezTo>
                  <a:pt x="13" y="242"/>
                  <a:pt x="13" y="242"/>
                  <a:pt x="13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2"/>
                  <a:pt x="104" y="242"/>
                  <a:pt x="104" y="242"/>
                </a:cubicBezTo>
                <a:lnTo>
                  <a:pt x="185" y="242"/>
                </a:lnTo>
                <a:close/>
                <a:moveTo>
                  <a:pt x="171" y="219"/>
                </a:moveTo>
                <a:cubicBezTo>
                  <a:pt x="172" y="220"/>
                  <a:pt x="172" y="220"/>
                  <a:pt x="172" y="220"/>
                </a:cubicBezTo>
                <a:cubicBezTo>
                  <a:pt x="173" y="220"/>
                  <a:pt x="173" y="220"/>
                  <a:pt x="173" y="220"/>
                </a:cubicBezTo>
                <a:cubicBezTo>
                  <a:pt x="175" y="223"/>
                  <a:pt x="177" y="226"/>
                  <a:pt x="179" y="230"/>
                </a:cubicBezTo>
                <a:cubicBezTo>
                  <a:pt x="180" y="231"/>
                  <a:pt x="180" y="231"/>
                  <a:pt x="180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04" y="231"/>
                  <a:pt x="104" y="231"/>
                  <a:pt x="104" y="231"/>
                </a:cubicBezTo>
                <a:cubicBezTo>
                  <a:pt x="18" y="231"/>
                  <a:pt x="18" y="231"/>
                  <a:pt x="18" y="231"/>
                </a:cubicBezTo>
                <a:cubicBezTo>
                  <a:pt x="19" y="230"/>
                  <a:pt x="19" y="230"/>
                  <a:pt x="19" y="230"/>
                </a:cubicBezTo>
                <a:cubicBezTo>
                  <a:pt x="20" y="226"/>
                  <a:pt x="23" y="223"/>
                  <a:pt x="25" y="220"/>
                </a:cubicBezTo>
                <a:cubicBezTo>
                  <a:pt x="25" y="220"/>
                  <a:pt x="25" y="220"/>
                  <a:pt x="25" y="220"/>
                </a:cubicBezTo>
                <a:cubicBezTo>
                  <a:pt x="26" y="220"/>
                  <a:pt x="26" y="220"/>
                  <a:pt x="26" y="219"/>
                </a:cubicBezTo>
                <a:cubicBezTo>
                  <a:pt x="31" y="214"/>
                  <a:pt x="31" y="214"/>
                  <a:pt x="31" y="214"/>
                </a:cubicBezTo>
                <a:cubicBezTo>
                  <a:pt x="166" y="214"/>
                  <a:pt x="166" y="214"/>
                  <a:pt x="166" y="214"/>
                </a:cubicBezTo>
                <a:lnTo>
                  <a:pt x="171" y="219"/>
                </a:lnTo>
                <a:close/>
                <a:moveTo>
                  <a:pt x="191" y="118"/>
                </a:moveTo>
                <a:cubicBezTo>
                  <a:pt x="191" y="118"/>
                  <a:pt x="191" y="118"/>
                  <a:pt x="191" y="118"/>
                </a:cubicBezTo>
                <a:cubicBezTo>
                  <a:pt x="187" y="118"/>
                  <a:pt x="183" y="117"/>
                  <a:pt x="180" y="116"/>
                </a:cubicBezTo>
                <a:cubicBezTo>
                  <a:pt x="175" y="115"/>
                  <a:pt x="171" y="114"/>
                  <a:pt x="167" y="113"/>
                </a:cubicBezTo>
                <a:cubicBezTo>
                  <a:pt x="142" y="108"/>
                  <a:pt x="125" y="103"/>
                  <a:pt x="122" y="100"/>
                </a:cubicBezTo>
                <a:cubicBezTo>
                  <a:pt x="120" y="98"/>
                  <a:pt x="116" y="97"/>
                  <a:pt x="114" y="99"/>
                </a:cubicBezTo>
                <a:cubicBezTo>
                  <a:pt x="111" y="100"/>
                  <a:pt x="111" y="104"/>
                  <a:pt x="112" y="106"/>
                </a:cubicBezTo>
                <a:cubicBezTo>
                  <a:pt x="114" y="109"/>
                  <a:pt x="152" y="167"/>
                  <a:pt x="162" y="202"/>
                </a:cubicBezTo>
                <a:cubicBezTo>
                  <a:pt x="162" y="202"/>
                  <a:pt x="162" y="202"/>
                  <a:pt x="162" y="202"/>
                </a:cubicBezTo>
                <a:cubicBezTo>
                  <a:pt x="33" y="202"/>
                  <a:pt x="33" y="202"/>
                  <a:pt x="33" y="202"/>
                </a:cubicBezTo>
                <a:cubicBezTo>
                  <a:pt x="33" y="202"/>
                  <a:pt x="33" y="202"/>
                  <a:pt x="33" y="202"/>
                </a:cubicBezTo>
                <a:cubicBezTo>
                  <a:pt x="32" y="198"/>
                  <a:pt x="31" y="192"/>
                  <a:pt x="30" y="183"/>
                </a:cubicBezTo>
                <a:cubicBezTo>
                  <a:pt x="29" y="174"/>
                  <a:pt x="28" y="164"/>
                  <a:pt x="27" y="153"/>
                </a:cubicBezTo>
                <a:cubicBezTo>
                  <a:pt x="26" y="144"/>
                  <a:pt x="27" y="135"/>
                  <a:pt x="28" y="126"/>
                </a:cubicBezTo>
                <a:cubicBezTo>
                  <a:pt x="29" y="122"/>
                  <a:pt x="30" y="117"/>
                  <a:pt x="31" y="113"/>
                </a:cubicBezTo>
                <a:cubicBezTo>
                  <a:pt x="35" y="100"/>
                  <a:pt x="40" y="89"/>
                  <a:pt x="45" y="79"/>
                </a:cubicBezTo>
                <a:cubicBezTo>
                  <a:pt x="46" y="77"/>
                  <a:pt x="48" y="74"/>
                  <a:pt x="49" y="72"/>
                </a:cubicBezTo>
                <a:cubicBezTo>
                  <a:pt x="54" y="61"/>
                  <a:pt x="79" y="42"/>
                  <a:pt x="99" y="28"/>
                </a:cubicBezTo>
                <a:cubicBezTo>
                  <a:pt x="102" y="26"/>
                  <a:pt x="106" y="24"/>
                  <a:pt x="109" y="21"/>
                </a:cubicBezTo>
                <a:cubicBezTo>
                  <a:pt x="112" y="20"/>
                  <a:pt x="114" y="18"/>
                  <a:pt x="116" y="17"/>
                </a:cubicBezTo>
                <a:cubicBezTo>
                  <a:pt x="117" y="16"/>
                  <a:pt x="117" y="16"/>
                  <a:pt x="117" y="16"/>
                </a:cubicBezTo>
                <a:cubicBezTo>
                  <a:pt x="116" y="35"/>
                  <a:pt x="116" y="35"/>
                  <a:pt x="116" y="35"/>
                </a:cubicBezTo>
                <a:cubicBezTo>
                  <a:pt x="116" y="37"/>
                  <a:pt x="118" y="39"/>
                  <a:pt x="120" y="40"/>
                </a:cubicBezTo>
                <a:cubicBezTo>
                  <a:pt x="164" y="56"/>
                  <a:pt x="164" y="56"/>
                  <a:pt x="164" y="56"/>
                </a:cubicBezTo>
                <a:cubicBezTo>
                  <a:pt x="176" y="79"/>
                  <a:pt x="176" y="79"/>
                  <a:pt x="176" y="79"/>
                </a:cubicBezTo>
                <a:cubicBezTo>
                  <a:pt x="176" y="80"/>
                  <a:pt x="177" y="81"/>
                  <a:pt x="178" y="82"/>
                </a:cubicBezTo>
                <a:cubicBezTo>
                  <a:pt x="200" y="97"/>
                  <a:pt x="200" y="97"/>
                  <a:pt x="200" y="97"/>
                </a:cubicBezTo>
                <a:cubicBezTo>
                  <a:pt x="200" y="97"/>
                  <a:pt x="200" y="97"/>
                  <a:pt x="200" y="97"/>
                </a:cubicBezTo>
                <a:lnTo>
                  <a:pt x="191" y="1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Medium"/>
              <a:ea typeface="+mn-ea"/>
              <a:cs typeface="Arial" charset="0"/>
            </a:endParaRPr>
          </a:p>
        </p:txBody>
      </p:sp>
      <p:sp>
        <p:nvSpPr>
          <p:cNvPr id="470" name="Text Placeholder 7">
            <a:extLst>
              <a:ext uri="{FF2B5EF4-FFF2-40B4-BE49-F238E27FC236}">
                <a16:creationId xmlns:a16="http://schemas.microsoft.com/office/drawing/2014/main" id="{CEFDEA2C-F032-776B-72D4-30C700A999BF}"/>
              </a:ext>
            </a:extLst>
          </p:cNvPr>
          <p:cNvSpPr txBox="1">
            <a:spLocks/>
          </p:cNvSpPr>
          <p:nvPr/>
        </p:nvSpPr>
        <p:spPr>
          <a:xfrm>
            <a:off x="10246996" y="551356"/>
            <a:ext cx="1040963" cy="103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ctr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1. Asses &amp; Align</a:t>
            </a:r>
            <a:endParaRPr kumimoji="0" lang="en-US" sz="300" b="0" i="0" u="none" strike="noStrike" kern="1200" cap="none" spc="-4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grpSp>
        <p:nvGrpSpPr>
          <p:cNvPr id="445" name="Group 100">
            <a:extLst>
              <a:ext uri="{FF2B5EF4-FFF2-40B4-BE49-F238E27FC236}">
                <a16:creationId xmlns:a16="http://schemas.microsoft.com/office/drawing/2014/main" id="{68A29469-E89B-C988-3C56-32F8C780D6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307161" y="246856"/>
            <a:ext cx="238701" cy="238140"/>
            <a:chOff x="5504" y="1721"/>
            <a:chExt cx="426" cy="425"/>
          </a:xfrm>
          <a:solidFill>
            <a:srgbClr val="000000">
              <a:alpha val="15000"/>
            </a:srgbClr>
          </a:solidFill>
        </p:grpSpPr>
        <p:sp>
          <p:nvSpPr>
            <p:cNvPr id="446" name="Freeform 101">
              <a:extLst>
                <a:ext uri="{FF2B5EF4-FFF2-40B4-BE49-F238E27FC236}">
                  <a16:creationId xmlns:a16="http://schemas.microsoft.com/office/drawing/2014/main" id="{2D2D6850-4FB2-A733-16CF-EE29A27F35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4" y="1951"/>
              <a:ext cx="195" cy="195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30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30"/>
                    <a:pt x="130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47" name="Freeform 102">
              <a:extLst>
                <a:ext uri="{FF2B5EF4-FFF2-40B4-BE49-F238E27FC236}">
                  <a16:creationId xmlns:a16="http://schemas.microsoft.com/office/drawing/2014/main" id="{6AEF689B-C178-F7B4-773A-5CFC8B937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" y="1774"/>
              <a:ext cx="161" cy="159"/>
            </a:xfrm>
            <a:custGeom>
              <a:avLst/>
              <a:gdLst>
                <a:gd name="T0" fmla="*/ 6 w 109"/>
                <a:gd name="T1" fmla="*/ 108 h 108"/>
                <a:gd name="T2" fmla="*/ 2 w 109"/>
                <a:gd name="T3" fmla="*/ 106 h 108"/>
                <a:gd name="T4" fmla="*/ 2 w 109"/>
                <a:gd name="T5" fmla="*/ 98 h 108"/>
                <a:gd name="T6" fmla="*/ 98 w 109"/>
                <a:gd name="T7" fmla="*/ 2 h 108"/>
                <a:gd name="T8" fmla="*/ 106 w 109"/>
                <a:gd name="T9" fmla="*/ 2 h 108"/>
                <a:gd name="T10" fmla="*/ 106 w 109"/>
                <a:gd name="T11" fmla="*/ 10 h 108"/>
                <a:gd name="T12" fmla="*/ 10 w 109"/>
                <a:gd name="T13" fmla="*/ 106 h 108"/>
                <a:gd name="T14" fmla="*/ 6 w 109"/>
                <a:gd name="T1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108">
                  <a:moveTo>
                    <a:pt x="6" y="108"/>
                  </a:moveTo>
                  <a:cubicBezTo>
                    <a:pt x="5" y="108"/>
                    <a:pt x="3" y="108"/>
                    <a:pt x="2" y="106"/>
                  </a:cubicBezTo>
                  <a:cubicBezTo>
                    <a:pt x="0" y="104"/>
                    <a:pt x="0" y="100"/>
                    <a:pt x="2" y="98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100" y="0"/>
                    <a:pt x="104" y="0"/>
                    <a:pt x="106" y="2"/>
                  </a:cubicBezTo>
                  <a:cubicBezTo>
                    <a:pt x="109" y="4"/>
                    <a:pt x="109" y="8"/>
                    <a:pt x="106" y="10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9" y="108"/>
                    <a:pt x="8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48" name="Freeform 103">
              <a:extLst>
                <a:ext uri="{FF2B5EF4-FFF2-40B4-BE49-F238E27FC236}">
                  <a16:creationId xmlns:a16="http://schemas.microsoft.com/office/drawing/2014/main" id="{6E5F7F5F-9ACB-D3A7-68B6-CA65CDF36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" y="1774"/>
              <a:ext cx="107" cy="106"/>
            </a:xfrm>
            <a:custGeom>
              <a:avLst/>
              <a:gdLst>
                <a:gd name="T0" fmla="*/ 66 w 72"/>
                <a:gd name="T1" fmla="*/ 72 h 72"/>
                <a:gd name="T2" fmla="*/ 60 w 72"/>
                <a:gd name="T3" fmla="*/ 66 h 72"/>
                <a:gd name="T4" fmla="*/ 60 w 72"/>
                <a:gd name="T5" fmla="*/ 12 h 72"/>
                <a:gd name="T6" fmla="*/ 6 w 72"/>
                <a:gd name="T7" fmla="*/ 12 h 72"/>
                <a:gd name="T8" fmla="*/ 0 w 72"/>
                <a:gd name="T9" fmla="*/ 6 h 72"/>
                <a:gd name="T10" fmla="*/ 6 w 72"/>
                <a:gd name="T11" fmla="*/ 0 h 72"/>
                <a:gd name="T12" fmla="*/ 66 w 72"/>
                <a:gd name="T13" fmla="*/ 0 h 72"/>
                <a:gd name="T14" fmla="*/ 72 w 72"/>
                <a:gd name="T15" fmla="*/ 6 h 72"/>
                <a:gd name="T16" fmla="*/ 72 w 72"/>
                <a:gd name="T17" fmla="*/ 66 h 72"/>
                <a:gd name="T18" fmla="*/ 66 w 72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66" y="72"/>
                  </a:moveTo>
                  <a:cubicBezTo>
                    <a:pt x="63" y="72"/>
                    <a:pt x="60" y="70"/>
                    <a:pt x="60" y="66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72" y="70"/>
                    <a:pt x="70" y="72"/>
                    <a:pt x="6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49" name="Freeform 104">
              <a:extLst>
                <a:ext uri="{FF2B5EF4-FFF2-40B4-BE49-F238E27FC236}">
                  <a16:creationId xmlns:a16="http://schemas.microsoft.com/office/drawing/2014/main" id="{22872043-D93E-D179-8EEB-8513B47DB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721"/>
              <a:ext cx="35" cy="35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6 h 24"/>
                <a:gd name="T6" fmla="*/ 6 w 24"/>
                <a:gd name="T7" fmla="*/ 0 h 24"/>
                <a:gd name="T8" fmla="*/ 18 w 24"/>
                <a:gd name="T9" fmla="*/ 0 h 24"/>
                <a:gd name="T10" fmla="*/ 24 w 24"/>
                <a:gd name="T11" fmla="*/ 6 h 24"/>
                <a:gd name="T12" fmla="*/ 18 w 24"/>
                <a:gd name="T13" fmla="*/ 12 h 24"/>
                <a:gd name="T14" fmla="*/ 12 w 24"/>
                <a:gd name="T15" fmla="*/ 12 h 24"/>
                <a:gd name="T16" fmla="*/ 12 w 24"/>
                <a:gd name="T17" fmla="*/ 18 h 24"/>
                <a:gd name="T18" fmla="*/ 6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0" name="Freeform 105">
              <a:extLst>
                <a:ext uri="{FF2B5EF4-FFF2-40B4-BE49-F238E27FC236}">
                  <a16:creationId xmlns:a16="http://schemas.microsoft.com/office/drawing/2014/main" id="{2411A813-1C94-DD3E-5224-1D4E58EDE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" y="1721"/>
              <a:ext cx="35" cy="35"/>
            </a:xfrm>
            <a:custGeom>
              <a:avLst/>
              <a:gdLst>
                <a:gd name="T0" fmla="*/ 18 w 24"/>
                <a:gd name="T1" fmla="*/ 24 h 24"/>
                <a:gd name="T2" fmla="*/ 12 w 24"/>
                <a:gd name="T3" fmla="*/ 18 h 24"/>
                <a:gd name="T4" fmla="*/ 12 w 24"/>
                <a:gd name="T5" fmla="*/ 12 h 24"/>
                <a:gd name="T6" fmla="*/ 6 w 24"/>
                <a:gd name="T7" fmla="*/ 12 h 24"/>
                <a:gd name="T8" fmla="*/ 0 w 24"/>
                <a:gd name="T9" fmla="*/ 6 h 24"/>
                <a:gd name="T10" fmla="*/ 6 w 24"/>
                <a:gd name="T11" fmla="*/ 0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15" y="24"/>
                    <a:pt x="12" y="22"/>
                    <a:pt x="12" y="18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1" name="Freeform 106">
              <a:extLst>
                <a:ext uri="{FF2B5EF4-FFF2-40B4-BE49-F238E27FC236}">
                  <a16:creationId xmlns:a16="http://schemas.microsoft.com/office/drawing/2014/main" id="{528CB13D-6F9A-EF1A-1BB5-41811E6B3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77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2" name="Freeform 107">
              <a:extLst>
                <a:ext uri="{FF2B5EF4-FFF2-40B4-BE49-F238E27FC236}">
                  <a16:creationId xmlns:a16="http://schemas.microsoft.com/office/drawing/2014/main" id="{B24B9B0F-BC64-AE1C-9DAD-69C120A95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8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3" name="Freeform 108">
              <a:extLst>
                <a:ext uri="{FF2B5EF4-FFF2-40B4-BE49-F238E27FC236}">
                  <a16:creationId xmlns:a16="http://schemas.microsoft.com/office/drawing/2014/main" id="{B587140D-58CD-1787-AAE4-C9A164CD8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1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4" name="Freeform 109">
              <a:extLst>
                <a:ext uri="{FF2B5EF4-FFF2-40B4-BE49-F238E27FC236}">
                  <a16:creationId xmlns:a16="http://schemas.microsoft.com/office/drawing/2014/main" id="{6B58E0D9-96F4-3869-A4EE-681583D39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1721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5" name="Freeform 110">
              <a:extLst>
                <a:ext uri="{FF2B5EF4-FFF2-40B4-BE49-F238E27FC236}">
                  <a16:creationId xmlns:a16="http://schemas.microsoft.com/office/drawing/2014/main" id="{427578ED-98CD-578D-D69D-1C10C6BBC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6" name="Freeform 111">
              <a:extLst>
                <a:ext uri="{FF2B5EF4-FFF2-40B4-BE49-F238E27FC236}">
                  <a16:creationId xmlns:a16="http://schemas.microsoft.com/office/drawing/2014/main" id="{42FF52BB-DB10-1F4C-E0BD-4FD65A1B7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7" name="Freeform 112">
              <a:extLst>
                <a:ext uri="{FF2B5EF4-FFF2-40B4-BE49-F238E27FC236}">
                  <a16:creationId xmlns:a16="http://schemas.microsoft.com/office/drawing/2014/main" id="{34622DB4-6FCF-D045-4F0B-2C0419316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1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8" name="Freeform 113">
              <a:extLst>
                <a:ext uri="{FF2B5EF4-FFF2-40B4-BE49-F238E27FC236}">
                  <a16:creationId xmlns:a16="http://schemas.microsoft.com/office/drawing/2014/main" id="{B280028C-BF16-901E-F55A-47953458D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2058"/>
              <a:ext cx="35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59" name="Freeform 114">
              <a:extLst>
                <a:ext uri="{FF2B5EF4-FFF2-40B4-BE49-F238E27FC236}">
                  <a16:creationId xmlns:a16="http://schemas.microsoft.com/office/drawing/2014/main" id="{7EA15B09-2D0A-305D-D09E-E2AFA759F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0" name="Freeform 115">
              <a:extLst>
                <a:ext uri="{FF2B5EF4-FFF2-40B4-BE49-F238E27FC236}">
                  <a16:creationId xmlns:a16="http://schemas.microsoft.com/office/drawing/2014/main" id="{F268FDDA-C61E-9DC5-71B3-1B705AA6D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1" name="Freeform 116">
              <a:extLst>
                <a:ext uri="{FF2B5EF4-FFF2-40B4-BE49-F238E27FC236}">
                  <a16:creationId xmlns:a16="http://schemas.microsoft.com/office/drawing/2014/main" id="{E8D4C717-6EA2-30A1-CD4D-2D8B5A3E3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" y="2040"/>
              <a:ext cx="35" cy="35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6 w 24"/>
                <a:gd name="T7" fmla="*/ 12 h 24"/>
                <a:gd name="T8" fmla="*/ 12 w 24"/>
                <a:gd name="T9" fmla="*/ 12 h 24"/>
                <a:gd name="T10" fmla="*/ 12 w 24"/>
                <a:gd name="T11" fmla="*/ 6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15"/>
                    <a:pt x="3" y="12"/>
                    <a:pt x="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5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2" name="Freeform 117">
              <a:extLst>
                <a:ext uri="{FF2B5EF4-FFF2-40B4-BE49-F238E27FC236}">
                  <a16:creationId xmlns:a16="http://schemas.microsoft.com/office/drawing/2014/main" id="{5B50F8AA-6122-37CE-37FF-18655AF61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987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3" name="Freeform 118">
              <a:extLst>
                <a:ext uri="{FF2B5EF4-FFF2-40B4-BE49-F238E27FC236}">
                  <a16:creationId xmlns:a16="http://schemas.microsoft.com/office/drawing/2014/main" id="{25F4D827-1E2A-3346-5B04-E0A527B7A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933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4" name="Freeform 119">
              <a:extLst>
                <a:ext uri="{FF2B5EF4-FFF2-40B4-BE49-F238E27FC236}">
                  <a16:creationId xmlns:a16="http://schemas.microsoft.com/office/drawing/2014/main" id="{823A738D-9937-D71E-FDCE-236CB9E15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8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5" name="Freeform 120">
              <a:extLst>
                <a:ext uri="{FF2B5EF4-FFF2-40B4-BE49-F238E27FC236}">
                  <a16:creationId xmlns:a16="http://schemas.microsoft.com/office/drawing/2014/main" id="{6A96CF12-B192-C1FE-F9E2-647B97F99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827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6" name="Freeform 121">
              <a:extLst>
                <a:ext uri="{FF2B5EF4-FFF2-40B4-BE49-F238E27FC236}">
                  <a16:creationId xmlns:a16="http://schemas.microsoft.com/office/drawing/2014/main" id="{CFD899F9-B3FF-2D46-48DC-BF88F047A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933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7" name="Freeform 122">
              <a:extLst>
                <a:ext uri="{FF2B5EF4-FFF2-40B4-BE49-F238E27FC236}">
                  <a16:creationId xmlns:a16="http://schemas.microsoft.com/office/drawing/2014/main" id="{5D90B412-3CE1-9A7A-E544-5589F49E1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8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8" name="Freeform 123">
              <a:extLst>
                <a:ext uri="{FF2B5EF4-FFF2-40B4-BE49-F238E27FC236}">
                  <a16:creationId xmlns:a16="http://schemas.microsoft.com/office/drawing/2014/main" id="{5DED8934-F40D-BFAD-C9A6-E9E0B0F42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827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69" name="Freeform 124">
              <a:extLst>
                <a:ext uri="{FF2B5EF4-FFF2-40B4-BE49-F238E27FC236}">
                  <a16:creationId xmlns:a16="http://schemas.microsoft.com/office/drawing/2014/main" id="{355D5A1E-1A1A-AA65-9C30-C7AD3870E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77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</p:grpSp>
      <p:sp>
        <p:nvSpPr>
          <p:cNvPr id="472" name="Text Placeholder 7">
            <a:extLst>
              <a:ext uri="{FF2B5EF4-FFF2-40B4-BE49-F238E27FC236}">
                <a16:creationId xmlns:a16="http://schemas.microsoft.com/office/drawing/2014/main" id="{B692AD66-270B-F2FC-1A05-58209A44DA5E}"/>
              </a:ext>
            </a:extLst>
          </p:cNvPr>
          <p:cNvSpPr txBox="1">
            <a:spLocks/>
          </p:cNvSpPr>
          <p:nvPr/>
        </p:nvSpPr>
        <p:spPr>
          <a:xfrm>
            <a:off x="10906030" y="551356"/>
            <a:ext cx="1040963" cy="103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ctr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-40" normalizeH="0" baseline="0" noProof="0">
                <a:ln>
                  <a:noFill/>
                </a:ln>
                <a:solidFill>
                  <a:srgbClr val="0A0011">
                    <a:alpha val="15000"/>
                  </a:srgbClr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2. Execute</a:t>
            </a:r>
            <a:endParaRPr kumimoji="0" lang="en-US" sz="300" b="0" i="0" u="none" strike="noStrike" kern="1200" cap="none" spc="-40" normalizeH="0" baseline="0" noProof="0">
              <a:ln>
                <a:noFill/>
              </a:ln>
              <a:solidFill>
                <a:srgbClr val="0A0011">
                  <a:alpha val="1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72D47FA-513C-B73B-CA0F-0167D9C29974}"/>
              </a:ext>
            </a:extLst>
          </p:cNvPr>
          <p:cNvSpPr txBox="1">
            <a:spLocks/>
          </p:cNvSpPr>
          <p:nvPr/>
        </p:nvSpPr>
        <p:spPr>
          <a:xfrm>
            <a:off x="9344259" y="2439701"/>
            <a:ext cx="2192262" cy="561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functions?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the functions where Cowork will create the most value and sequence them for rollout.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7C3C05-2148-C44D-01C9-9CF32606E1C4}"/>
              </a:ext>
            </a:extLst>
          </p:cNvPr>
          <p:cNvSpPr/>
          <p:nvPr/>
        </p:nvSpPr>
        <p:spPr>
          <a:xfrm>
            <a:off x="9155430" y="1482090"/>
            <a:ext cx="2539441" cy="3392127"/>
          </a:xfrm>
          <a:prstGeom prst="roundRect">
            <a:avLst>
              <a:gd name="adj" fmla="val 1582"/>
            </a:avLst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/>
              <a:ea typeface="+mn-ea"/>
              <a:cs typeface="+mn-cs"/>
            </a:endParaRPr>
          </a:p>
        </p:txBody>
      </p:sp>
      <p:grpSp>
        <p:nvGrpSpPr>
          <p:cNvPr id="483" name="Group 100">
            <a:extLst>
              <a:ext uri="{FF2B5EF4-FFF2-40B4-BE49-F238E27FC236}">
                <a16:creationId xmlns:a16="http://schemas.microsoft.com/office/drawing/2014/main" id="{A57EA006-CC8E-4C97-56A7-36E63043BD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56728" y="5350678"/>
            <a:ext cx="238701" cy="238140"/>
            <a:chOff x="5504" y="1721"/>
            <a:chExt cx="426" cy="425"/>
          </a:xfrm>
          <a:solidFill>
            <a:srgbClr val="000000"/>
          </a:solidFill>
        </p:grpSpPr>
        <p:sp>
          <p:nvSpPr>
            <p:cNvPr id="484" name="Freeform 101">
              <a:extLst>
                <a:ext uri="{FF2B5EF4-FFF2-40B4-BE49-F238E27FC236}">
                  <a16:creationId xmlns:a16="http://schemas.microsoft.com/office/drawing/2014/main" id="{BC070B4D-B3D0-429B-3D67-9DCA79A37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4" y="1951"/>
              <a:ext cx="195" cy="195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30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30"/>
                    <a:pt x="130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85" name="Freeform 102">
              <a:extLst>
                <a:ext uri="{FF2B5EF4-FFF2-40B4-BE49-F238E27FC236}">
                  <a16:creationId xmlns:a16="http://schemas.microsoft.com/office/drawing/2014/main" id="{8146E271-E49E-F385-AB16-3D371C567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" y="1774"/>
              <a:ext cx="161" cy="159"/>
            </a:xfrm>
            <a:custGeom>
              <a:avLst/>
              <a:gdLst>
                <a:gd name="T0" fmla="*/ 6 w 109"/>
                <a:gd name="T1" fmla="*/ 108 h 108"/>
                <a:gd name="T2" fmla="*/ 2 w 109"/>
                <a:gd name="T3" fmla="*/ 106 h 108"/>
                <a:gd name="T4" fmla="*/ 2 w 109"/>
                <a:gd name="T5" fmla="*/ 98 h 108"/>
                <a:gd name="T6" fmla="*/ 98 w 109"/>
                <a:gd name="T7" fmla="*/ 2 h 108"/>
                <a:gd name="T8" fmla="*/ 106 w 109"/>
                <a:gd name="T9" fmla="*/ 2 h 108"/>
                <a:gd name="T10" fmla="*/ 106 w 109"/>
                <a:gd name="T11" fmla="*/ 10 h 108"/>
                <a:gd name="T12" fmla="*/ 10 w 109"/>
                <a:gd name="T13" fmla="*/ 106 h 108"/>
                <a:gd name="T14" fmla="*/ 6 w 109"/>
                <a:gd name="T1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108">
                  <a:moveTo>
                    <a:pt x="6" y="108"/>
                  </a:moveTo>
                  <a:cubicBezTo>
                    <a:pt x="5" y="108"/>
                    <a:pt x="3" y="108"/>
                    <a:pt x="2" y="106"/>
                  </a:cubicBezTo>
                  <a:cubicBezTo>
                    <a:pt x="0" y="104"/>
                    <a:pt x="0" y="100"/>
                    <a:pt x="2" y="98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100" y="0"/>
                    <a:pt x="104" y="0"/>
                    <a:pt x="106" y="2"/>
                  </a:cubicBezTo>
                  <a:cubicBezTo>
                    <a:pt x="109" y="4"/>
                    <a:pt x="109" y="8"/>
                    <a:pt x="106" y="10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9" y="108"/>
                    <a:pt x="8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86" name="Freeform 103">
              <a:extLst>
                <a:ext uri="{FF2B5EF4-FFF2-40B4-BE49-F238E27FC236}">
                  <a16:creationId xmlns:a16="http://schemas.microsoft.com/office/drawing/2014/main" id="{5077B3D2-59EA-103E-D631-15D3B0B03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" y="1774"/>
              <a:ext cx="107" cy="106"/>
            </a:xfrm>
            <a:custGeom>
              <a:avLst/>
              <a:gdLst>
                <a:gd name="T0" fmla="*/ 66 w 72"/>
                <a:gd name="T1" fmla="*/ 72 h 72"/>
                <a:gd name="T2" fmla="*/ 60 w 72"/>
                <a:gd name="T3" fmla="*/ 66 h 72"/>
                <a:gd name="T4" fmla="*/ 60 w 72"/>
                <a:gd name="T5" fmla="*/ 12 h 72"/>
                <a:gd name="T6" fmla="*/ 6 w 72"/>
                <a:gd name="T7" fmla="*/ 12 h 72"/>
                <a:gd name="T8" fmla="*/ 0 w 72"/>
                <a:gd name="T9" fmla="*/ 6 h 72"/>
                <a:gd name="T10" fmla="*/ 6 w 72"/>
                <a:gd name="T11" fmla="*/ 0 h 72"/>
                <a:gd name="T12" fmla="*/ 66 w 72"/>
                <a:gd name="T13" fmla="*/ 0 h 72"/>
                <a:gd name="T14" fmla="*/ 72 w 72"/>
                <a:gd name="T15" fmla="*/ 6 h 72"/>
                <a:gd name="T16" fmla="*/ 72 w 72"/>
                <a:gd name="T17" fmla="*/ 66 h 72"/>
                <a:gd name="T18" fmla="*/ 66 w 72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66" y="72"/>
                  </a:moveTo>
                  <a:cubicBezTo>
                    <a:pt x="63" y="72"/>
                    <a:pt x="60" y="70"/>
                    <a:pt x="60" y="66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66"/>
                    <a:pt x="72" y="66"/>
                    <a:pt x="72" y="66"/>
                  </a:cubicBezTo>
                  <a:cubicBezTo>
                    <a:pt x="72" y="70"/>
                    <a:pt x="70" y="72"/>
                    <a:pt x="6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87" name="Freeform 104">
              <a:extLst>
                <a:ext uri="{FF2B5EF4-FFF2-40B4-BE49-F238E27FC236}">
                  <a16:creationId xmlns:a16="http://schemas.microsoft.com/office/drawing/2014/main" id="{6CB8BC7F-3FAB-A1A9-E37D-A84F0E121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721"/>
              <a:ext cx="35" cy="35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6 h 24"/>
                <a:gd name="T6" fmla="*/ 6 w 24"/>
                <a:gd name="T7" fmla="*/ 0 h 24"/>
                <a:gd name="T8" fmla="*/ 18 w 24"/>
                <a:gd name="T9" fmla="*/ 0 h 24"/>
                <a:gd name="T10" fmla="*/ 24 w 24"/>
                <a:gd name="T11" fmla="*/ 6 h 24"/>
                <a:gd name="T12" fmla="*/ 18 w 24"/>
                <a:gd name="T13" fmla="*/ 12 h 24"/>
                <a:gd name="T14" fmla="*/ 12 w 24"/>
                <a:gd name="T15" fmla="*/ 12 h 24"/>
                <a:gd name="T16" fmla="*/ 12 w 24"/>
                <a:gd name="T17" fmla="*/ 18 h 24"/>
                <a:gd name="T18" fmla="*/ 6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88" name="Freeform 105">
              <a:extLst>
                <a:ext uri="{FF2B5EF4-FFF2-40B4-BE49-F238E27FC236}">
                  <a16:creationId xmlns:a16="http://schemas.microsoft.com/office/drawing/2014/main" id="{AC046D4D-8839-D660-3A25-B32372D89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" y="1721"/>
              <a:ext cx="35" cy="35"/>
            </a:xfrm>
            <a:custGeom>
              <a:avLst/>
              <a:gdLst>
                <a:gd name="T0" fmla="*/ 18 w 24"/>
                <a:gd name="T1" fmla="*/ 24 h 24"/>
                <a:gd name="T2" fmla="*/ 12 w 24"/>
                <a:gd name="T3" fmla="*/ 18 h 24"/>
                <a:gd name="T4" fmla="*/ 12 w 24"/>
                <a:gd name="T5" fmla="*/ 12 h 24"/>
                <a:gd name="T6" fmla="*/ 6 w 24"/>
                <a:gd name="T7" fmla="*/ 12 h 24"/>
                <a:gd name="T8" fmla="*/ 0 w 24"/>
                <a:gd name="T9" fmla="*/ 6 h 24"/>
                <a:gd name="T10" fmla="*/ 6 w 24"/>
                <a:gd name="T11" fmla="*/ 0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15" y="24"/>
                    <a:pt x="12" y="22"/>
                    <a:pt x="12" y="18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89" name="Freeform 106">
              <a:extLst>
                <a:ext uri="{FF2B5EF4-FFF2-40B4-BE49-F238E27FC236}">
                  <a16:creationId xmlns:a16="http://schemas.microsoft.com/office/drawing/2014/main" id="{EF3A2243-B3DB-F77C-85D9-C3A1B47DC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77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0" name="Freeform 107">
              <a:extLst>
                <a:ext uri="{FF2B5EF4-FFF2-40B4-BE49-F238E27FC236}">
                  <a16:creationId xmlns:a16="http://schemas.microsoft.com/office/drawing/2014/main" id="{9D31C972-4088-EF46-67B4-A85AECF82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8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1" name="Freeform 108">
              <a:extLst>
                <a:ext uri="{FF2B5EF4-FFF2-40B4-BE49-F238E27FC236}">
                  <a16:creationId xmlns:a16="http://schemas.microsoft.com/office/drawing/2014/main" id="{F7ABE13A-3B12-A66F-FACC-9645899CB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1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2" name="Freeform 109">
              <a:extLst>
                <a:ext uri="{FF2B5EF4-FFF2-40B4-BE49-F238E27FC236}">
                  <a16:creationId xmlns:a16="http://schemas.microsoft.com/office/drawing/2014/main" id="{0C03067A-9774-E88E-1AB3-FF93F2D41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1721"/>
              <a:ext cx="35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3" name="Freeform 110">
              <a:extLst>
                <a:ext uri="{FF2B5EF4-FFF2-40B4-BE49-F238E27FC236}">
                  <a16:creationId xmlns:a16="http://schemas.microsoft.com/office/drawing/2014/main" id="{3310AEA6-20B6-4E5D-71CF-E978FFD9A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4" name="Freeform 111">
              <a:extLst>
                <a:ext uri="{FF2B5EF4-FFF2-40B4-BE49-F238E27FC236}">
                  <a16:creationId xmlns:a16="http://schemas.microsoft.com/office/drawing/2014/main" id="{063837BF-BD90-9409-3EEF-3ED35D7AD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" y="1721"/>
              <a:ext cx="36" cy="1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5" name="Freeform 112">
              <a:extLst>
                <a:ext uri="{FF2B5EF4-FFF2-40B4-BE49-F238E27FC236}">
                  <a16:creationId xmlns:a16="http://schemas.microsoft.com/office/drawing/2014/main" id="{22550762-B334-08CB-51A4-72894B3CE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1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6" name="Freeform 113">
              <a:extLst>
                <a:ext uri="{FF2B5EF4-FFF2-40B4-BE49-F238E27FC236}">
                  <a16:creationId xmlns:a16="http://schemas.microsoft.com/office/drawing/2014/main" id="{880CC874-9CDE-438F-1433-F6BD8623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" y="2058"/>
              <a:ext cx="35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7" name="Freeform 114">
              <a:extLst>
                <a:ext uri="{FF2B5EF4-FFF2-40B4-BE49-F238E27FC236}">
                  <a16:creationId xmlns:a16="http://schemas.microsoft.com/office/drawing/2014/main" id="{8419EDBC-DCE1-483E-29AA-D10EB2DC6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8" name="Freeform 115">
              <a:extLst>
                <a:ext uri="{FF2B5EF4-FFF2-40B4-BE49-F238E27FC236}">
                  <a16:creationId xmlns:a16="http://schemas.microsoft.com/office/drawing/2014/main" id="{A0B8C854-6B5F-0878-41A1-E387AAAC3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" y="2058"/>
              <a:ext cx="36" cy="17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0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499" name="Freeform 116">
              <a:extLst>
                <a:ext uri="{FF2B5EF4-FFF2-40B4-BE49-F238E27FC236}">
                  <a16:creationId xmlns:a16="http://schemas.microsoft.com/office/drawing/2014/main" id="{64C90DDC-8E99-CBE7-CD34-330868956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" y="2040"/>
              <a:ext cx="35" cy="35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6 w 24"/>
                <a:gd name="T7" fmla="*/ 12 h 24"/>
                <a:gd name="T8" fmla="*/ 12 w 24"/>
                <a:gd name="T9" fmla="*/ 12 h 24"/>
                <a:gd name="T10" fmla="*/ 12 w 24"/>
                <a:gd name="T11" fmla="*/ 6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15"/>
                    <a:pt x="3" y="12"/>
                    <a:pt x="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5" y="0"/>
                    <a:pt x="18" y="0"/>
                  </a:cubicBezTo>
                  <a:cubicBezTo>
                    <a:pt x="22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2" y="24"/>
                    <a:pt x="1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0" name="Freeform 117">
              <a:extLst>
                <a:ext uri="{FF2B5EF4-FFF2-40B4-BE49-F238E27FC236}">
                  <a16:creationId xmlns:a16="http://schemas.microsoft.com/office/drawing/2014/main" id="{223A750F-BEE2-54B7-24C6-C04CC7649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987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1" name="Freeform 118">
              <a:extLst>
                <a:ext uri="{FF2B5EF4-FFF2-40B4-BE49-F238E27FC236}">
                  <a16:creationId xmlns:a16="http://schemas.microsoft.com/office/drawing/2014/main" id="{2D8555AA-0DA7-99AE-20E0-C8679B923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933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2" name="Freeform 119">
              <a:extLst>
                <a:ext uri="{FF2B5EF4-FFF2-40B4-BE49-F238E27FC236}">
                  <a16:creationId xmlns:a16="http://schemas.microsoft.com/office/drawing/2014/main" id="{04095D4D-6F6E-F282-401E-CF94B5624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8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3" name="Freeform 120">
              <a:extLst>
                <a:ext uri="{FF2B5EF4-FFF2-40B4-BE49-F238E27FC236}">
                  <a16:creationId xmlns:a16="http://schemas.microsoft.com/office/drawing/2014/main" id="{C3A55CB8-A489-D526-A38F-B7679427E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827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4" name="Freeform 121">
              <a:extLst>
                <a:ext uri="{FF2B5EF4-FFF2-40B4-BE49-F238E27FC236}">
                  <a16:creationId xmlns:a16="http://schemas.microsoft.com/office/drawing/2014/main" id="{96CAEF46-2374-F0B1-84AC-DFAB4879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933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5" name="Freeform 122">
              <a:extLst>
                <a:ext uri="{FF2B5EF4-FFF2-40B4-BE49-F238E27FC236}">
                  <a16:creationId xmlns:a16="http://schemas.microsoft.com/office/drawing/2014/main" id="{2DAF50C9-7264-55CE-2D8B-80054CD89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880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6" name="Freeform 123">
              <a:extLst>
                <a:ext uri="{FF2B5EF4-FFF2-40B4-BE49-F238E27FC236}">
                  <a16:creationId xmlns:a16="http://schemas.microsoft.com/office/drawing/2014/main" id="{2D9F93E2-8238-B04C-211F-9631A2046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1827"/>
              <a:ext cx="18" cy="36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  <p:sp>
          <p:nvSpPr>
            <p:cNvPr id="507" name="Freeform 124">
              <a:extLst>
                <a:ext uri="{FF2B5EF4-FFF2-40B4-BE49-F238E27FC236}">
                  <a16:creationId xmlns:a16="http://schemas.microsoft.com/office/drawing/2014/main" id="{C0D87560-8488-DE76-5008-40AEA9106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" y="1774"/>
              <a:ext cx="18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Arial" charset="0"/>
              </a:endParaRPr>
            </a:p>
          </p:txBody>
        </p:sp>
      </p:grpSp>
      <p:sp>
        <p:nvSpPr>
          <p:cNvPr id="508" name="Text Placeholder 7">
            <a:extLst>
              <a:ext uri="{FF2B5EF4-FFF2-40B4-BE49-F238E27FC236}">
                <a16:creationId xmlns:a16="http://schemas.microsoft.com/office/drawing/2014/main" id="{5B472789-514C-9BBB-42E1-7259649AE0D8}"/>
              </a:ext>
            </a:extLst>
          </p:cNvPr>
          <p:cNvSpPr txBox="1">
            <a:spLocks/>
          </p:cNvSpPr>
          <p:nvPr/>
        </p:nvSpPr>
        <p:spPr>
          <a:xfrm>
            <a:off x="9055597" y="5655178"/>
            <a:ext cx="1040963" cy="103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14363" fontAlgn="auto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40" normalizeH="0" baseline="0">
                <a:ln>
                  <a:noFill/>
                </a:ln>
                <a:effectLst/>
                <a:uLnTx/>
                <a:uFillTx/>
                <a:latin typeface="Graphik Medium" panose="020B0603030202060203" pitchFamily="34" charset="0"/>
              </a:defRPr>
            </a:lvl1pPr>
            <a:lvl2pPr marL="228594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200"/>
            </a:lvl2pPr>
            <a:lvl3pPr marL="457189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200"/>
            </a:lvl3pPr>
            <a:lvl4pPr marL="685783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377" indent="-228594" defTabSz="228594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200"/>
            </a:lvl6pPr>
            <a:lvl7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/>
            </a:lvl7pPr>
            <a:lvl8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/>
            </a:lvl8pPr>
            <a:lvl9pPr marL="0" indent="0" defTabSz="228594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>
                <a:solidFill>
                  <a:schemeClr val="tx2"/>
                </a:solidFill>
              </a:defRPr>
            </a:lvl9pPr>
          </a:lstStyle>
          <a:p>
            <a:pPr marL="0" marR="0" lvl="0" indent="0" algn="ctr" defTabSz="914363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-4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+mn-ea"/>
                <a:cs typeface="+mn-cs"/>
              </a:rPr>
              <a:t>2. Deployment</a:t>
            </a:r>
            <a:endParaRPr kumimoji="0" lang="en-US" sz="300" b="0" i="0" u="none" strike="noStrike" kern="1200" cap="none" spc="-40" normalizeH="0" baseline="0" noProof="0">
              <a:ln>
                <a:noFill/>
              </a:ln>
              <a:solidFill>
                <a:srgbClr val="0A0011"/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511" name="Text Placeholder 16">
            <a:extLst>
              <a:ext uri="{FF2B5EF4-FFF2-40B4-BE49-F238E27FC236}">
                <a16:creationId xmlns:a16="http://schemas.microsoft.com/office/drawing/2014/main" id="{4BD6F503-A3A0-3E9B-3889-10A135DCE828}"/>
              </a:ext>
            </a:extLst>
          </p:cNvPr>
          <p:cNvSpPr txBox="1">
            <a:spLocks/>
          </p:cNvSpPr>
          <p:nvPr/>
        </p:nvSpPr>
        <p:spPr>
          <a:xfrm>
            <a:off x="10127813" y="5272259"/>
            <a:ext cx="1439607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Medium"/>
                <a:ea typeface="Calibri" panose="020F0502020204030204" pitchFamily="34" charset="0"/>
                <a:cs typeface="Calibri" panose="020F0502020204030204" pitchFamily="34" charset="0"/>
              </a:rPr>
              <a:t>Our deployment offering puts this plan into action, starting on Day 1.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7361AF9-7DF6-E10A-ABD9-B57DEE44577F}"/>
              </a:ext>
            </a:extLst>
          </p:cNvPr>
          <p:cNvCxnSpPr>
            <a:cxnSpLocks/>
          </p:cNvCxnSpPr>
          <p:nvPr/>
        </p:nvCxnSpPr>
        <p:spPr>
          <a:xfrm>
            <a:off x="9304020" y="4876800"/>
            <a:ext cx="0" cy="459105"/>
          </a:xfrm>
          <a:prstGeom prst="line">
            <a:avLst/>
          </a:prstGeom>
          <a:ln w="12700">
            <a:solidFill>
              <a:schemeClr val="accent3"/>
            </a:solidFill>
            <a:prstDash val="sysDash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E5A46B73-7A56-E00C-FCE4-D9B73ABDA42C}"/>
              </a:ext>
            </a:extLst>
          </p:cNvPr>
          <p:cNvSpPr txBox="1">
            <a:spLocks/>
          </p:cNvSpPr>
          <p:nvPr/>
        </p:nvSpPr>
        <p:spPr>
          <a:xfrm>
            <a:off x="9344259" y="3209975"/>
            <a:ext cx="2192262" cy="561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roles?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the roles to be augmented, and how work shifts between humans and AI.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905D81F7-5253-4337-7D4E-E6CF2914A1FF}"/>
              </a:ext>
            </a:extLst>
          </p:cNvPr>
          <p:cNvSpPr txBox="1">
            <a:spLocks/>
          </p:cNvSpPr>
          <p:nvPr/>
        </p:nvSpPr>
        <p:spPr>
          <a:xfrm>
            <a:off x="9344259" y="3980249"/>
            <a:ext cx="2192262" cy="561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752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4263" indent="-22701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4775" indent="-2333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Font typeface="Century Gothic" panose="020B0502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Semibold" panose="020B07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use cases?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A0011"/>
                </a:solidFill>
                <a:effectLst/>
                <a:uLnTx/>
                <a:uFillTx/>
                <a:latin typeface="Graphik Light" panose="020B04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high-impact use cases to pilot, standardize, and scale across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113207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ONG FY26 - LIGHT">
  <a:themeElements>
    <a:clrScheme name="Custom 100">
      <a:dk1>
        <a:srgbClr val="0A0011"/>
      </a:dk1>
      <a:lt1>
        <a:srgbClr val="FFFFFF"/>
      </a:lt1>
      <a:dk2>
        <a:srgbClr val="0A0011"/>
      </a:dk2>
      <a:lt2>
        <a:srgbClr val="FBF7FF"/>
      </a:lt2>
      <a:accent1>
        <a:srgbClr val="460073"/>
      </a:accent1>
      <a:accent2>
        <a:srgbClr val="7500C0"/>
      </a:accent2>
      <a:accent3>
        <a:srgbClr val="A100FF"/>
      </a:accent3>
      <a:accent4>
        <a:srgbClr val="C2A3FF"/>
      </a:accent4>
      <a:accent5>
        <a:srgbClr val="E6DCFF"/>
      </a:accent5>
      <a:accent6>
        <a:srgbClr val="FF50A0"/>
      </a:accent6>
      <a:hlink>
        <a:srgbClr val="A100FF"/>
      </a:hlink>
      <a:folHlink>
        <a:srgbClr val="C2A3FF"/>
      </a:folHlink>
    </a:clrScheme>
    <a:fontScheme name="SONG Marketing - 0701">
      <a:majorFont>
        <a:latin typeface="Graphik Semibold"/>
        <a:ea typeface=""/>
        <a:cs typeface=""/>
      </a:majorFont>
      <a:minorFont>
        <a:latin typeface="Graphik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spc="-2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490</Words>
  <Application>Microsoft Office PowerPoint</Application>
  <PresentationFormat>Widescreen</PresentationFormat>
  <Paragraphs>52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Aptos</vt:lpstr>
      <vt:lpstr>Arial</vt:lpstr>
      <vt:lpstr>Calibri</vt:lpstr>
      <vt:lpstr>Graphik</vt:lpstr>
      <vt:lpstr>Graphik Light</vt:lpstr>
      <vt:lpstr>Graphik Medium</vt:lpstr>
      <vt:lpstr>Graphik Regular</vt:lpstr>
      <vt:lpstr>Graphik Semibold</vt:lpstr>
      <vt:lpstr>SONG FY26 - LIGHT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Agarwal, Sushant</dc:creator>
  <cp:lastModifiedBy>Baig, Ataul K.</cp:lastModifiedBy>
  <cp:revision>5</cp:revision>
  <dcterms:created xsi:type="dcterms:W3CDTF">2026-08-18T17:55:00Z</dcterms:created>
  <dcterms:modified xsi:type="dcterms:W3CDTF">2026-08-24T16:38:44Z</dcterms:modified>
</cp:coreProperties>
</file>